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2"/>
  </p:notesMasterIdLst>
  <p:sldIdLst>
    <p:sldId id="256" r:id="rId2"/>
    <p:sldId id="258" r:id="rId3"/>
    <p:sldId id="260" r:id="rId4"/>
    <p:sldId id="264" r:id="rId5"/>
    <p:sldId id="265" r:id="rId6"/>
    <p:sldId id="266" r:id="rId7"/>
    <p:sldId id="270" r:id="rId8"/>
    <p:sldId id="271" r:id="rId9"/>
    <p:sldId id="272" r:id="rId10"/>
    <p:sldId id="261" r:id="rId11"/>
  </p:sldIdLst>
  <p:sldSz cx="9144000" cy="5143500" type="screen16x9"/>
  <p:notesSz cx="6858000" cy="9144000"/>
  <p:embeddedFontLst>
    <p:embeddedFont>
      <p:font typeface="Anaheim" panose="020B0604020202020204" charset="0"/>
      <p:regular r:id="rId13"/>
      <p:bold r:id="rId14"/>
    </p:embeddedFont>
    <p:embeddedFont>
      <p:font typeface="DM Sans" pitchFamily="2" charset="0"/>
      <p:regular r:id="rId15"/>
      <p:bold r:id="rId16"/>
      <p:italic r:id="rId17"/>
      <p:boldItalic r:id="rId18"/>
    </p:embeddedFont>
    <p:embeddedFont>
      <p:font typeface="DM Sans Medium" pitchFamily="2" charset="0"/>
      <p:regular r:id="rId19"/>
      <p:bold r:id="rId20"/>
      <p:italic r:id="rId21"/>
      <p:boldItalic r:id="rId22"/>
    </p:embeddedFont>
    <p:embeddedFont>
      <p:font typeface="Nunito Light" pitchFamily="2" charset="0"/>
      <p:regular r:id="rId23"/>
      <p:italic r:id="rId24"/>
    </p:embeddedFont>
    <p:embeddedFont>
      <p:font typeface="Playfair Display Medium" panose="020B0604020202020204" charset="0"/>
      <p:regular r:id="rId25"/>
      <p:bold r:id="rId26"/>
      <p:italic r:id="rId27"/>
      <p:boldItalic r:id="rId28"/>
    </p:embeddedFont>
    <p:embeddedFont>
      <p:font typeface="Raleway" pitchFamily="2" charset="0"/>
      <p:regular r:id="rId29"/>
      <p:bold r:id="rId30"/>
      <p:italic r:id="rId31"/>
      <p:boldItalic r:id="rId32"/>
    </p:embeddedFont>
    <p:embeddedFont>
      <p:font typeface="Rubik Medium" panose="020B0604020202020204" charset="0"/>
      <p:regular r:id="rId33"/>
      <p:bold r:id="rId34"/>
      <p:italic r:id="rId35"/>
      <p:boldItalic r:id="rId36"/>
    </p:embeddedFont>
    <p:embeddedFont>
      <p:font typeface="Rubik SemiBold" panose="020B060402020202020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C1B7FE-673F-47EE-B674-DE54280FA4BC}">
  <a:tblStyle styleId="{01C1B7FE-673F-47EE-B674-DE54280FA4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0176471-9AED-4C20-ADEE-B9B05278EEF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9" Type="http://schemas.openxmlformats.org/officeDocument/2006/relationships/font" Target="fonts/font27.fntdata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font" Target="fonts/font25.fntdata"/><Relationship Id="rId40" Type="http://schemas.openxmlformats.org/officeDocument/2006/relationships/font" Target="fonts/font28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font" Target="fonts/font24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font" Target="fonts/font2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font" Target="fonts/font2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7626417603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7626417603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910c9cffe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910c9cffe2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910c9cffe2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910c9cffe2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910c9cffe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910c9cffe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2560825"/>
            <a:ext cx="4595700" cy="18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7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75" y="1007350"/>
            <a:ext cx="2208900" cy="5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3167225" y="539500"/>
            <a:ext cx="607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rot="10800000">
            <a:off x="843077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13225" y="3762200"/>
            <a:ext cx="2822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2734600"/>
            <a:ext cx="12888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 flipH="1">
            <a:off x="5468450" y="819367"/>
            <a:ext cx="2623800" cy="3826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7" name="Google Shape;17;p3"/>
          <p:cNvCxnSpPr/>
          <p:nvPr/>
        </p:nvCxnSpPr>
        <p:spPr>
          <a:xfrm>
            <a:off x="3167225" y="539500"/>
            <a:ext cx="607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8;p3"/>
          <p:cNvCxnSpPr/>
          <p:nvPr/>
        </p:nvCxnSpPr>
        <p:spPr>
          <a:xfrm rot="10800000">
            <a:off x="843077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34" name="Google Shape;34;p6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" name="Google Shape;35;p6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44" name="Google Shape;44;p8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" name="Google Shape;45;p8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cxnSp>
        <p:nvCxnSpPr>
          <p:cNvPr id="49" name="Google Shape;49;p9"/>
          <p:cNvCxnSpPr/>
          <p:nvPr/>
        </p:nvCxnSpPr>
        <p:spPr>
          <a:xfrm>
            <a:off x="3167225" y="539500"/>
            <a:ext cx="607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" name="Google Shape;50;p9"/>
          <p:cNvCxnSpPr/>
          <p:nvPr/>
        </p:nvCxnSpPr>
        <p:spPr>
          <a:xfrm rot="10800000">
            <a:off x="843077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713225" y="3408625"/>
            <a:ext cx="2466300" cy="81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subTitle" idx="1"/>
          </p:nvPr>
        </p:nvSpPr>
        <p:spPr>
          <a:xfrm>
            <a:off x="713225" y="2622925"/>
            <a:ext cx="2466300" cy="6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57" name="Google Shape;57;p11"/>
          <p:cNvCxnSpPr/>
          <p:nvPr/>
        </p:nvCxnSpPr>
        <p:spPr>
          <a:xfrm>
            <a:off x="3167225" y="539500"/>
            <a:ext cx="607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11"/>
          <p:cNvCxnSpPr/>
          <p:nvPr/>
        </p:nvCxnSpPr>
        <p:spPr>
          <a:xfrm rot="10800000">
            <a:off x="843077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264840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3" hasCustomPrompt="1"/>
          </p:nvPr>
        </p:nvSpPr>
        <p:spPr>
          <a:xfrm>
            <a:off x="3760200" y="26483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32474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5" hasCustomPrompt="1"/>
          </p:nvPr>
        </p:nvSpPr>
        <p:spPr>
          <a:xfrm>
            <a:off x="3760200" y="324746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0" y="384655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7" hasCustomPrompt="1"/>
          </p:nvPr>
        </p:nvSpPr>
        <p:spPr>
          <a:xfrm>
            <a:off x="3760200" y="38465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1454700" y="264840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8"/>
          </p:nvPr>
        </p:nvSpPr>
        <p:spPr>
          <a:xfrm>
            <a:off x="1454700" y="32474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9"/>
          </p:nvPr>
        </p:nvSpPr>
        <p:spPr>
          <a:xfrm>
            <a:off x="1454700" y="38465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3"/>
          </p:nvPr>
        </p:nvSpPr>
        <p:spPr>
          <a:xfrm>
            <a:off x="4494900" y="264840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4"/>
          </p:nvPr>
        </p:nvSpPr>
        <p:spPr>
          <a:xfrm>
            <a:off x="4494900" y="324747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5"/>
          </p:nvPr>
        </p:nvSpPr>
        <p:spPr>
          <a:xfrm>
            <a:off x="4494900" y="38465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74" name="Google Shape;74;p13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3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" name="Google Shape;83;p15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713225" y="3404150"/>
            <a:ext cx="4598400" cy="6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ubTitle" idx="1"/>
          </p:nvPr>
        </p:nvSpPr>
        <p:spPr>
          <a:xfrm>
            <a:off x="713225" y="3975200"/>
            <a:ext cx="4598400" cy="6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6"/>
          <p:cNvSpPr>
            <a:spLocks noGrp="1"/>
          </p:cNvSpPr>
          <p:nvPr>
            <p:ph type="pic" idx="2"/>
          </p:nvPr>
        </p:nvSpPr>
        <p:spPr>
          <a:xfrm>
            <a:off x="713225" y="539500"/>
            <a:ext cx="4598400" cy="25983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6"/>
          <p:cNvSpPr>
            <a:spLocks noGrp="1"/>
          </p:cNvSpPr>
          <p:nvPr>
            <p:ph type="pic" idx="3"/>
          </p:nvPr>
        </p:nvSpPr>
        <p:spPr>
          <a:xfrm>
            <a:off x="5564583" y="539500"/>
            <a:ext cx="2866200" cy="4064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89" name="Google Shape;89;p16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" name="Google Shape;90;p16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6279450" y="539500"/>
            <a:ext cx="21513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1"/>
          </p:nvPr>
        </p:nvSpPr>
        <p:spPr>
          <a:xfrm>
            <a:off x="6279450" y="1486025"/>
            <a:ext cx="2151300" cy="10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>
            <a:spLocks noGrp="1"/>
          </p:cNvSpPr>
          <p:nvPr>
            <p:ph type="pic" idx="2"/>
          </p:nvPr>
        </p:nvSpPr>
        <p:spPr>
          <a:xfrm>
            <a:off x="678047" y="539500"/>
            <a:ext cx="2709000" cy="40644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>
            <a:spLocks noGrp="1"/>
          </p:cNvSpPr>
          <p:nvPr>
            <p:ph type="pic" idx="3"/>
          </p:nvPr>
        </p:nvSpPr>
        <p:spPr>
          <a:xfrm>
            <a:off x="3690375" y="3055272"/>
            <a:ext cx="4740300" cy="15486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7"/>
          <p:cNvSpPr>
            <a:spLocks noGrp="1"/>
          </p:cNvSpPr>
          <p:nvPr>
            <p:ph type="pic" idx="4"/>
          </p:nvPr>
        </p:nvSpPr>
        <p:spPr>
          <a:xfrm>
            <a:off x="3690375" y="539500"/>
            <a:ext cx="2285700" cy="2285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7" name="Google Shape;97;p17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" name="Google Shape;98;p17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713250" y="445025"/>
            <a:ext cx="463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body" idx="1"/>
          </p:nvPr>
        </p:nvSpPr>
        <p:spPr>
          <a:xfrm>
            <a:off x="713250" y="1406925"/>
            <a:ext cx="7717500" cy="25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cxnSp>
        <p:nvCxnSpPr>
          <p:cNvPr id="102" name="Google Shape;102;p18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" name="Google Shape;103;p18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1"/>
          </p:nvPr>
        </p:nvSpPr>
        <p:spPr>
          <a:xfrm>
            <a:off x="713225" y="3147477"/>
            <a:ext cx="2106900" cy="13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ubTitle" idx="2"/>
          </p:nvPr>
        </p:nvSpPr>
        <p:spPr>
          <a:xfrm>
            <a:off x="3074432" y="3147477"/>
            <a:ext cx="2106900" cy="13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ubTitle" idx="3"/>
          </p:nvPr>
        </p:nvSpPr>
        <p:spPr>
          <a:xfrm>
            <a:off x="5435639" y="3147479"/>
            <a:ext cx="2106900" cy="13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ubTitle" idx="4"/>
          </p:nvPr>
        </p:nvSpPr>
        <p:spPr>
          <a:xfrm>
            <a:off x="713225" y="2494475"/>
            <a:ext cx="2106900" cy="7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subTitle" idx="5"/>
          </p:nvPr>
        </p:nvSpPr>
        <p:spPr>
          <a:xfrm>
            <a:off x="3074433" y="2494475"/>
            <a:ext cx="2106900" cy="7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ubTitle" idx="6"/>
          </p:nvPr>
        </p:nvSpPr>
        <p:spPr>
          <a:xfrm>
            <a:off x="5435634" y="2494475"/>
            <a:ext cx="2106900" cy="7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122" name="Google Shape;122;p21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21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Google Shape;159;p25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" name="Google Shape;160;p25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26"/>
          <p:cNvCxnSpPr/>
          <p:nvPr/>
        </p:nvCxnSpPr>
        <p:spPr>
          <a:xfrm>
            <a:off x="3167225" y="539500"/>
            <a:ext cx="607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6"/>
          <p:cNvCxnSpPr/>
          <p:nvPr/>
        </p:nvCxnSpPr>
        <p:spPr>
          <a:xfrm rot="10800000">
            <a:off x="843077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fair Display Medium"/>
              <a:buNone/>
              <a:defRPr sz="28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1" r:id="rId9"/>
    <p:sldLayoutId id="2147483662" r:id="rId10"/>
    <p:sldLayoutId id="2147483663" r:id="rId11"/>
    <p:sldLayoutId id="2147483664" r:id="rId12"/>
    <p:sldLayoutId id="2147483667" r:id="rId13"/>
    <p:sldLayoutId id="2147483671" r:id="rId14"/>
    <p:sldLayoutId id="2147483672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syaAriza/Project-Based-Internship-Home-Credit/blob/main/Final%20Task%20ADS%20Home%20Credit_Disya%20Nurul%20Ariza.ipynb" TargetMode="External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ctrTitle"/>
          </p:nvPr>
        </p:nvSpPr>
        <p:spPr>
          <a:xfrm>
            <a:off x="713225" y="2560825"/>
            <a:ext cx="4595700" cy="189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D" dirty="0"/>
              <a:t>Home Credit Default Risk - </a:t>
            </a:r>
            <a:r>
              <a:rPr lang="en-US" i="1" dirty="0"/>
              <a:t>Predicting Loan Default Using Machine Learning</a:t>
            </a:r>
            <a:endParaRPr i="1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713275" y="1007350"/>
            <a:ext cx="2208900" cy="5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dirty="0"/>
              <a:t>Disya Nurul Ariza</a:t>
            </a:r>
          </a:p>
          <a:p>
            <a:pPr marL="0" lvl="0" indent="0"/>
            <a:r>
              <a:rPr lang="en-ID" dirty="0"/>
              <a:t>Virtual Internship Experience </a:t>
            </a:r>
            <a:endParaRPr dirty="0"/>
          </a:p>
        </p:txBody>
      </p:sp>
      <p:sp>
        <p:nvSpPr>
          <p:cNvPr id="176" name="Google Shape;176;p30"/>
          <p:cNvSpPr txBox="1"/>
          <p:nvPr/>
        </p:nvSpPr>
        <p:spPr>
          <a:xfrm>
            <a:off x="734825" y="367750"/>
            <a:ext cx="16995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PORTFOLIO 2025</a:t>
            </a:r>
            <a:endParaRPr sz="1000" dirty="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201" name="Google Shape;201;p32"/>
          <p:cNvSpPr txBox="1">
            <a:spLocks noGrp="1"/>
          </p:cNvSpPr>
          <p:nvPr>
            <p:ph type="subTitle" idx="14"/>
          </p:nvPr>
        </p:nvSpPr>
        <p:spPr>
          <a:xfrm>
            <a:off x="523373" y="1636636"/>
            <a:ext cx="8097253" cy="12057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D" sz="1700" b="1" dirty="0"/>
              <a:t>Problem</a:t>
            </a:r>
            <a:br>
              <a:rPr lang="en-ID" sz="1700" dirty="0"/>
            </a:br>
            <a:r>
              <a:rPr lang="en-ID" sz="1700" dirty="0"/>
              <a:t>Perusahaan </a:t>
            </a:r>
            <a:r>
              <a:rPr lang="en-ID" sz="1700" dirty="0" err="1"/>
              <a:t>menghadapi</a:t>
            </a:r>
            <a:r>
              <a:rPr lang="en-ID" sz="1700" dirty="0"/>
              <a:t> </a:t>
            </a:r>
            <a:r>
              <a:rPr lang="en-ID" sz="1700" dirty="0" err="1"/>
              <a:t>risiko</a:t>
            </a:r>
            <a:r>
              <a:rPr lang="en-ID" sz="1700" dirty="0"/>
              <a:t> </a:t>
            </a:r>
            <a:r>
              <a:rPr lang="en-ID" sz="1700" dirty="0" err="1"/>
              <a:t>kredit</a:t>
            </a:r>
            <a:r>
              <a:rPr lang="en-ID" sz="1700" dirty="0"/>
              <a:t> yang </a:t>
            </a:r>
            <a:r>
              <a:rPr lang="en-ID" sz="1700" dirty="0" err="1"/>
              <a:t>tinggi</a:t>
            </a:r>
            <a:r>
              <a:rPr lang="en-ID" sz="1700" dirty="0"/>
              <a:t> </a:t>
            </a:r>
            <a:r>
              <a:rPr lang="en-ID" sz="1700" dirty="0" err="1"/>
              <a:t>akibat</a:t>
            </a:r>
            <a:r>
              <a:rPr lang="en-ID" sz="1700" dirty="0"/>
              <a:t> </a:t>
            </a:r>
            <a:r>
              <a:rPr lang="en-ID" sz="1700" dirty="0" err="1"/>
              <a:t>nasabah</a:t>
            </a:r>
            <a:r>
              <a:rPr lang="en-ID" sz="1700" dirty="0"/>
              <a:t> </a:t>
            </a:r>
            <a:r>
              <a:rPr lang="en-ID" sz="1700" dirty="0" err="1"/>
              <a:t>gagal</a:t>
            </a:r>
            <a:r>
              <a:rPr lang="en-ID" sz="1700" dirty="0"/>
              <a:t> </a:t>
            </a:r>
            <a:r>
              <a:rPr lang="en-ID" sz="1700" dirty="0" err="1"/>
              <a:t>membayar</a:t>
            </a:r>
            <a:r>
              <a:rPr lang="en-ID" sz="1700" dirty="0"/>
              <a:t> </a:t>
            </a:r>
            <a:r>
              <a:rPr lang="en-ID" sz="1700" dirty="0" err="1"/>
              <a:t>pinjaman</a:t>
            </a:r>
            <a:r>
              <a:rPr lang="en-ID" sz="1700" dirty="0"/>
              <a:t> (default), yang </a:t>
            </a:r>
            <a:r>
              <a:rPr lang="en-ID" sz="1700" dirty="0" err="1"/>
              <a:t>berdampak</a:t>
            </a:r>
            <a:r>
              <a:rPr lang="en-ID" sz="1700" dirty="0"/>
              <a:t> pada </a:t>
            </a:r>
            <a:r>
              <a:rPr lang="en-ID" sz="1700" dirty="0" err="1"/>
              <a:t>meningkatnya</a:t>
            </a:r>
            <a:r>
              <a:rPr lang="en-ID" sz="1700" dirty="0"/>
              <a:t> Non-Performing Loan (NPL) dan </a:t>
            </a:r>
            <a:r>
              <a:rPr lang="en-ID" sz="1700" dirty="0" err="1"/>
              <a:t>kerugian</a:t>
            </a:r>
            <a:r>
              <a:rPr lang="en-ID" sz="1700" dirty="0"/>
              <a:t> </a:t>
            </a:r>
            <a:r>
              <a:rPr lang="en-ID" sz="1700" dirty="0" err="1"/>
              <a:t>finansial</a:t>
            </a:r>
            <a:r>
              <a:rPr lang="en-ID" sz="1700" dirty="0"/>
              <a:t> </a:t>
            </a:r>
            <a:r>
              <a:rPr lang="en-ID" sz="1700" dirty="0" err="1"/>
              <a:t>perusahaan</a:t>
            </a:r>
            <a:r>
              <a:rPr lang="en-ID" sz="1700" dirty="0"/>
              <a:t>.</a:t>
            </a:r>
            <a:endParaRPr sz="1700" dirty="0"/>
          </a:p>
        </p:txBody>
      </p:sp>
      <p:sp>
        <p:nvSpPr>
          <p:cNvPr id="202" name="Google Shape;202;p32"/>
          <p:cNvSpPr txBox="1">
            <a:spLocks noGrp="1"/>
          </p:cNvSpPr>
          <p:nvPr>
            <p:ph type="subTitle" idx="15"/>
          </p:nvPr>
        </p:nvSpPr>
        <p:spPr>
          <a:xfrm>
            <a:off x="341003" y="2742825"/>
            <a:ext cx="8279623" cy="15301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D" sz="1700" b="1" dirty="0"/>
              <a:t>Objective</a:t>
            </a:r>
            <a:endParaRPr lang="en-ID" sz="1700" dirty="0"/>
          </a:p>
          <a:p>
            <a:pPr marL="609600" indent="-457200">
              <a:buFont typeface="+mj-lt"/>
              <a:buAutoNum type="arabicPeriod"/>
            </a:pPr>
            <a:r>
              <a:rPr lang="en-ID" sz="1700" dirty="0" err="1"/>
              <a:t>Memprediksi</a:t>
            </a:r>
            <a:r>
              <a:rPr lang="en-ID" sz="1700" dirty="0"/>
              <a:t> </a:t>
            </a:r>
            <a:r>
              <a:rPr lang="en-ID" sz="1700" dirty="0" err="1"/>
              <a:t>risiko</a:t>
            </a:r>
            <a:r>
              <a:rPr lang="en-ID" sz="1700" dirty="0"/>
              <a:t> </a:t>
            </a:r>
            <a:r>
              <a:rPr lang="en-ID" sz="1700" dirty="0" err="1"/>
              <a:t>gagal</a:t>
            </a:r>
            <a:r>
              <a:rPr lang="en-ID" sz="1700" dirty="0"/>
              <a:t> </a:t>
            </a:r>
            <a:r>
              <a:rPr lang="en-ID" sz="1700" dirty="0" err="1"/>
              <a:t>bayar</a:t>
            </a:r>
            <a:r>
              <a:rPr lang="en-ID" sz="1700" dirty="0"/>
              <a:t> (default) </a:t>
            </a:r>
            <a:r>
              <a:rPr lang="en-ID" sz="1700" dirty="0" err="1"/>
              <a:t>nasabah</a:t>
            </a:r>
            <a:r>
              <a:rPr lang="en-ID" sz="1700" dirty="0"/>
              <a:t> </a:t>
            </a:r>
            <a:r>
              <a:rPr lang="en-ID" sz="1700" dirty="0" err="1"/>
              <a:t>secara</a:t>
            </a:r>
            <a:r>
              <a:rPr lang="en-ID" sz="1700" dirty="0"/>
              <a:t> </a:t>
            </a:r>
            <a:r>
              <a:rPr lang="en-ID" sz="1700" dirty="0" err="1"/>
              <a:t>akurat</a:t>
            </a:r>
            <a:endParaRPr lang="en-ID" sz="1700" dirty="0"/>
          </a:p>
          <a:p>
            <a:pPr marL="609600" indent="-457200">
              <a:buFont typeface="+mj-lt"/>
              <a:buAutoNum type="arabicPeriod"/>
            </a:pPr>
            <a:r>
              <a:rPr lang="en-ID" sz="1700" dirty="0" err="1"/>
              <a:t>Mendukung</a:t>
            </a:r>
            <a:r>
              <a:rPr lang="en-ID" sz="1700" dirty="0"/>
              <a:t> proses </a:t>
            </a:r>
            <a:r>
              <a:rPr lang="en-ID" sz="1700" dirty="0" err="1"/>
              <a:t>persetujuan</a:t>
            </a:r>
            <a:r>
              <a:rPr lang="en-ID" sz="1700" dirty="0"/>
              <a:t> </a:t>
            </a:r>
            <a:r>
              <a:rPr lang="en-ID" sz="1700" dirty="0" err="1"/>
              <a:t>kredit</a:t>
            </a:r>
            <a:r>
              <a:rPr lang="en-ID" sz="1700" dirty="0"/>
              <a:t> </a:t>
            </a:r>
            <a:r>
              <a:rPr lang="en-ID" sz="1700" dirty="0" err="1"/>
              <a:t>berbasis</a:t>
            </a:r>
            <a:r>
              <a:rPr lang="en-ID" sz="1700" dirty="0"/>
              <a:t> data dan </a:t>
            </a:r>
            <a:r>
              <a:rPr lang="en-ID" sz="1700" dirty="0" err="1"/>
              <a:t>objektif</a:t>
            </a:r>
            <a:endParaRPr lang="en-ID" sz="1700" dirty="0"/>
          </a:p>
          <a:p>
            <a:pPr marL="609600" indent="-457200">
              <a:buFont typeface="+mj-lt"/>
              <a:buAutoNum type="arabicPeriod"/>
            </a:pPr>
            <a:r>
              <a:rPr lang="en-ID" sz="1700" dirty="0" err="1"/>
              <a:t>Membantu</a:t>
            </a:r>
            <a:r>
              <a:rPr lang="en-ID" sz="1700" dirty="0"/>
              <a:t> </a:t>
            </a:r>
            <a:r>
              <a:rPr lang="en-ID" sz="1700" dirty="0" err="1"/>
              <a:t>perusahaan</a:t>
            </a:r>
            <a:r>
              <a:rPr lang="en-ID" sz="1700" dirty="0"/>
              <a:t> </a:t>
            </a:r>
            <a:r>
              <a:rPr lang="en-ID" sz="1700" dirty="0" err="1"/>
              <a:t>dalam</a:t>
            </a:r>
            <a:r>
              <a:rPr lang="en-ID" sz="1700" dirty="0"/>
              <a:t> </a:t>
            </a:r>
            <a:r>
              <a:rPr lang="en-ID" sz="1700" dirty="0" err="1"/>
              <a:t>menekan</a:t>
            </a:r>
            <a:r>
              <a:rPr lang="en-ID" sz="1700" dirty="0"/>
              <a:t> </a:t>
            </a:r>
            <a:r>
              <a:rPr lang="en-ID" sz="1700" dirty="0" err="1"/>
              <a:t>tingkat</a:t>
            </a:r>
            <a:r>
              <a:rPr lang="en-ID" sz="1700" dirty="0"/>
              <a:t> Non-Performing Loan (NPL)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DATASET DESCRIPTION</a:t>
            </a:r>
            <a:endParaRPr dirty="0"/>
          </a:p>
        </p:txBody>
      </p:sp>
      <p:sp>
        <p:nvSpPr>
          <p:cNvPr id="218" name="Google Shape;218;p34"/>
          <p:cNvSpPr txBox="1">
            <a:spLocks noGrp="1"/>
          </p:cNvSpPr>
          <p:nvPr>
            <p:ph type="subTitle" idx="2"/>
          </p:nvPr>
        </p:nvSpPr>
        <p:spPr>
          <a:xfrm>
            <a:off x="619990" y="1216355"/>
            <a:ext cx="7804010" cy="7796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sz="1600" dirty="0" err="1"/>
              <a:t>Analisis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menggunakan</a:t>
            </a:r>
            <a:r>
              <a:rPr lang="en-ID" sz="1600" dirty="0"/>
              <a:t> </a:t>
            </a:r>
            <a:r>
              <a:rPr lang="en-ID" sz="1600" dirty="0" err="1"/>
              <a:t>beberapa</a:t>
            </a:r>
            <a:r>
              <a:rPr lang="en-ID" sz="1600" dirty="0"/>
              <a:t> dataset </a:t>
            </a:r>
            <a:r>
              <a:rPr lang="en-ID" sz="1600" dirty="0" err="1"/>
              <a:t>historis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Home Credit yang </a:t>
            </a:r>
            <a:r>
              <a:rPr lang="en-ID" sz="1600" dirty="0" err="1"/>
              <a:t>saling</a:t>
            </a:r>
            <a:r>
              <a:rPr lang="en-ID" sz="1600" dirty="0"/>
              <a:t> </a:t>
            </a:r>
            <a:r>
              <a:rPr lang="en-ID" sz="1600" dirty="0" err="1"/>
              <a:t>terhubung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memprediksi</a:t>
            </a:r>
            <a:r>
              <a:rPr lang="en-ID" sz="1600" dirty="0"/>
              <a:t> </a:t>
            </a:r>
            <a:r>
              <a:rPr lang="en-ID" sz="1600" dirty="0" err="1"/>
              <a:t>risiko</a:t>
            </a:r>
            <a:r>
              <a:rPr lang="en-ID" sz="1600" dirty="0"/>
              <a:t> </a:t>
            </a:r>
            <a:r>
              <a:rPr lang="en-ID" sz="1600" dirty="0" err="1"/>
              <a:t>gagal</a:t>
            </a:r>
            <a:r>
              <a:rPr lang="en-ID" sz="1600" dirty="0"/>
              <a:t> </a:t>
            </a:r>
            <a:r>
              <a:rPr lang="en-ID" sz="1600" dirty="0" err="1"/>
              <a:t>bayar</a:t>
            </a:r>
            <a:r>
              <a:rPr lang="en-ID" sz="1600" dirty="0"/>
              <a:t> (default) </a:t>
            </a:r>
            <a:r>
              <a:rPr lang="en-ID" sz="1600" dirty="0" err="1"/>
              <a:t>nasabah</a:t>
            </a:r>
            <a:r>
              <a:rPr lang="en-ID" sz="1600" dirty="0"/>
              <a:t>.</a:t>
            </a:r>
            <a:endParaRPr sz="1600" dirty="0"/>
          </a:p>
        </p:txBody>
      </p:sp>
      <p:sp>
        <p:nvSpPr>
          <p:cNvPr id="219" name="Google Shape;219;p34"/>
          <p:cNvSpPr txBox="1">
            <a:spLocks noGrp="1"/>
          </p:cNvSpPr>
          <p:nvPr>
            <p:ph type="subTitle" idx="3"/>
          </p:nvPr>
        </p:nvSpPr>
        <p:spPr>
          <a:xfrm>
            <a:off x="385011" y="4487779"/>
            <a:ext cx="8038989" cy="6557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b="1" dirty="0"/>
              <a:t>Key Identifier:</a:t>
            </a:r>
            <a:br>
              <a:rPr lang="en-ID" dirty="0"/>
            </a:br>
            <a:r>
              <a:rPr lang="en-ID" dirty="0" err="1"/>
              <a:t>Seluruh</a:t>
            </a:r>
            <a:r>
              <a:rPr lang="en-ID" dirty="0"/>
              <a:t> dataset </a:t>
            </a:r>
            <a:r>
              <a:rPr lang="en-ID" dirty="0" err="1"/>
              <a:t>diintegrasikan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b="1" dirty="0"/>
              <a:t>SK_ID_CURR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primary key.</a:t>
            </a:r>
            <a:endParaRPr dirty="0"/>
          </a:p>
        </p:txBody>
      </p:sp>
      <p:sp>
        <p:nvSpPr>
          <p:cNvPr id="10" name="Google Shape;218;p34">
            <a:extLst>
              <a:ext uri="{FF2B5EF4-FFF2-40B4-BE49-F238E27FC236}">
                <a16:creationId xmlns:a16="http://schemas.microsoft.com/office/drawing/2014/main" id="{0A7BA732-1FFE-EC24-3488-86D7FB00B117}"/>
              </a:ext>
            </a:extLst>
          </p:cNvPr>
          <p:cNvSpPr txBox="1">
            <a:spLocks/>
          </p:cNvSpPr>
          <p:nvPr/>
        </p:nvSpPr>
        <p:spPr>
          <a:xfrm>
            <a:off x="485527" y="1930874"/>
            <a:ext cx="8172945" cy="262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ID" sz="1600" b="1" dirty="0"/>
              <a:t>Dataset yang </a:t>
            </a:r>
            <a:r>
              <a:rPr lang="en-ID" sz="1600" b="1" dirty="0" err="1"/>
              <a:t>digunakan</a:t>
            </a:r>
            <a:r>
              <a:rPr lang="en-ID" sz="1600" b="1" dirty="0"/>
              <a:t>:</a:t>
            </a:r>
            <a:endParaRPr lang="en-ID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1600" b="1" dirty="0"/>
              <a:t>application_train.csv</a:t>
            </a:r>
            <a:br>
              <a:rPr lang="en-ID" sz="1600" dirty="0"/>
            </a:br>
            <a:r>
              <a:rPr lang="en-ID" sz="1600" dirty="0"/>
              <a:t>Data </a:t>
            </a:r>
            <a:r>
              <a:rPr lang="en-ID" sz="1600" dirty="0" err="1"/>
              <a:t>utama</a:t>
            </a:r>
            <a:r>
              <a:rPr lang="en-ID" sz="1600" dirty="0"/>
              <a:t> </a:t>
            </a:r>
            <a:r>
              <a:rPr lang="en-ID" sz="1600" dirty="0" err="1"/>
              <a:t>nasabah</a:t>
            </a:r>
            <a:r>
              <a:rPr lang="en-ID" sz="1600" dirty="0"/>
              <a:t> yang </a:t>
            </a:r>
            <a:r>
              <a:rPr lang="en-ID" sz="1600" dirty="0" err="1"/>
              <a:t>berisi</a:t>
            </a:r>
            <a:r>
              <a:rPr lang="en-ID" sz="1600" dirty="0"/>
              <a:t> </a:t>
            </a:r>
            <a:r>
              <a:rPr lang="en-ID" sz="1600" dirty="0" err="1"/>
              <a:t>informasi</a:t>
            </a:r>
            <a:r>
              <a:rPr lang="en-ID" sz="1600" dirty="0"/>
              <a:t> </a:t>
            </a:r>
            <a:r>
              <a:rPr lang="en-ID" sz="1600" dirty="0" err="1"/>
              <a:t>demografis</a:t>
            </a:r>
            <a:r>
              <a:rPr lang="en-ID" sz="1600" dirty="0"/>
              <a:t>, </a:t>
            </a:r>
            <a:r>
              <a:rPr lang="en-ID" sz="1600" dirty="0" err="1"/>
              <a:t>finansial</a:t>
            </a:r>
            <a:r>
              <a:rPr lang="en-ID" sz="1600" dirty="0"/>
              <a:t>, </a:t>
            </a:r>
            <a:r>
              <a:rPr lang="en-ID" sz="1600" dirty="0" err="1"/>
              <a:t>serta</a:t>
            </a:r>
            <a:r>
              <a:rPr lang="en-ID" sz="1600" dirty="0"/>
              <a:t> label target (</a:t>
            </a:r>
            <a:r>
              <a:rPr lang="en-ID" sz="1600" b="1" dirty="0"/>
              <a:t>TARGET</a:t>
            </a:r>
            <a:r>
              <a:rPr lang="en-ID" sz="1600" dirty="0"/>
              <a:t>) yang </a:t>
            </a:r>
            <a:r>
              <a:rPr lang="en-ID" sz="1600" dirty="0" err="1"/>
              <a:t>menunjukkan</a:t>
            </a:r>
            <a:r>
              <a:rPr lang="en-ID" sz="1600" dirty="0"/>
              <a:t> status default.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600" b="1" dirty="0"/>
              <a:t>bureau.csv</a:t>
            </a:r>
            <a:br>
              <a:rPr lang="en-ID" sz="1600" dirty="0"/>
            </a:br>
            <a:r>
              <a:rPr lang="en-ID" sz="1600" dirty="0" err="1"/>
              <a:t>Berisi</a:t>
            </a:r>
            <a:r>
              <a:rPr lang="en-ID" sz="1600" dirty="0"/>
              <a:t> </a:t>
            </a:r>
            <a:r>
              <a:rPr lang="en-ID" sz="1600" dirty="0" err="1"/>
              <a:t>riwayat</a:t>
            </a:r>
            <a:r>
              <a:rPr lang="en-ID" sz="1600" dirty="0"/>
              <a:t> </a:t>
            </a:r>
            <a:r>
              <a:rPr lang="en-ID" sz="1600" dirty="0" err="1"/>
              <a:t>kredit</a:t>
            </a:r>
            <a:r>
              <a:rPr lang="en-ID" sz="1600" dirty="0"/>
              <a:t> </a:t>
            </a:r>
            <a:r>
              <a:rPr lang="en-ID" sz="1600" dirty="0" err="1"/>
              <a:t>eksternal</a:t>
            </a:r>
            <a:r>
              <a:rPr lang="en-ID" sz="1600" dirty="0"/>
              <a:t> </a:t>
            </a:r>
            <a:r>
              <a:rPr lang="en-ID" sz="1600" dirty="0" err="1"/>
              <a:t>nasabah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lembaga</a:t>
            </a:r>
            <a:r>
              <a:rPr lang="en-ID" sz="1600" dirty="0"/>
              <a:t> lain.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600" b="1" dirty="0"/>
              <a:t>previous_application.csv</a:t>
            </a:r>
            <a:br>
              <a:rPr lang="en-ID" sz="1600" dirty="0"/>
            </a:br>
            <a:r>
              <a:rPr lang="en-ID" sz="1600" dirty="0" err="1"/>
              <a:t>Menyimpan</a:t>
            </a:r>
            <a:r>
              <a:rPr lang="en-ID" sz="1600" dirty="0"/>
              <a:t> </a:t>
            </a:r>
            <a:r>
              <a:rPr lang="en-ID" sz="1600" dirty="0" err="1"/>
              <a:t>informasi</a:t>
            </a:r>
            <a:r>
              <a:rPr lang="en-ID" sz="1600" dirty="0"/>
              <a:t> </a:t>
            </a:r>
            <a:r>
              <a:rPr lang="en-ID" sz="1600" dirty="0" err="1"/>
              <a:t>pengajuan</a:t>
            </a:r>
            <a:r>
              <a:rPr lang="en-ID" sz="1600" dirty="0"/>
              <a:t> </a:t>
            </a:r>
            <a:r>
              <a:rPr lang="en-ID" sz="1600" dirty="0" err="1"/>
              <a:t>pinjaman</a:t>
            </a:r>
            <a:r>
              <a:rPr lang="en-ID" sz="1600" dirty="0"/>
              <a:t> </a:t>
            </a:r>
            <a:r>
              <a:rPr lang="en-ID" sz="1600" dirty="0" err="1"/>
              <a:t>nasabah</a:t>
            </a:r>
            <a:r>
              <a:rPr lang="en-ID" sz="1600" dirty="0"/>
              <a:t> </a:t>
            </a:r>
            <a:r>
              <a:rPr lang="en-ID" sz="1600" dirty="0" err="1"/>
              <a:t>sebelumnya</a:t>
            </a:r>
            <a:r>
              <a:rPr lang="en-ID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600" b="1" dirty="0"/>
              <a:t>installments_payments.csv</a:t>
            </a:r>
            <a:br>
              <a:rPr lang="en-ID" sz="1600" dirty="0"/>
            </a:br>
            <a:r>
              <a:rPr lang="en-ID" sz="1600" dirty="0" err="1"/>
              <a:t>Mencatat</a:t>
            </a:r>
            <a:r>
              <a:rPr lang="en-ID" sz="1600" dirty="0"/>
              <a:t> </a:t>
            </a:r>
            <a:r>
              <a:rPr lang="en-ID" sz="1600" dirty="0" err="1"/>
              <a:t>riwayat</a:t>
            </a:r>
            <a:r>
              <a:rPr lang="en-ID" sz="1600" dirty="0"/>
              <a:t> </a:t>
            </a:r>
            <a:r>
              <a:rPr lang="en-ID" sz="1600" dirty="0" err="1"/>
              <a:t>pembayaran</a:t>
            </a:r>
            <a:r>
              <a:rPr lang="en-ID" sz="1600" dirty="0"/>
              <a:t> </a:t>
            </a:r>
            <a:r>
              <a:rPr lang="en-ID" sz="1600" dirty="0" err="1"/>
              <a:t>cicilan</a:t>
            </a:r>
            <a:r>
              <a:rPr lang="en-ID" sz="1600" dirty="0"/>
              <a:t> dan </a:t>
            </a:r>
            <a:r>
              <a:rPr lang="en-ID" sz="1600" dirty="0" err="1"/>
              <a:t>keterlambatan</a:t>
            </a:r>
            <a:r>
              <a:rPr lang="en-ID" sz="1600" dirty="0"/>
              <a:t> </a:t>
            </a:r>
            <a:r>
              <a:rPr lang="en-ID" sz="1600" dirty="0" err="1"/>
              <a:t>pembayaran</a:t>
            </a:r>
            <a:r>
              <a:rPr lang="en-ID" sz="16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>
            <a:spLocks noGrp="1"/>
          </p:cNvSpPr>
          <p:nvPr>
            <p:ph type="title"/>
          </p:nvPr>
        </p:nvSpPr>
        <p:spPr>
          <a:xfrm>
            <a:off x="713249" y="445025"/>
            <a:ext cx="663804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PROCESS ANALYSIS &amp; MODELLING</a:t>
            </a:r>
            <a:endParaRPr dirty="0"/>
          </a:p>
        </p:txBody>
      </p:sp>
      <p:sp>
        <p:nvSpPr>
          <p:cNvPr id="274" name="Google Shape;274;p38"/>
          <p:cNvSpPr txBox="1">
            <a:spLocks noGrp="1"/>
          </p:cNvSpPr>
          <p:nvPr>
            <p:ph type="body" idx="1"/>
          </p:nvPr>
        </p:nvSpPr>
        <p:spPr>
          <a:xfrm>
            <a:off x="146958" y="1023079"/>
            <a:ext cx="8482692" cy="40183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ID" sz="1300" b="1" dirty="0"/>
              <a:t>Data Preprocessing</a:t>
            </a:r>
            <a:endParaRPr lang="en-ID" sz="13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D" sz="1300" dirty="0" err="1"/>
              <a:t>Menggabungkan</a:t>
            </a:r>
            <a:r>
              <a:rPr lang="en-ID" sz="1300" dirty="0"/>
              <a:t> </a:t>
            </a:r>
            <a:r>
              <a:rPr lang="en-ID" sz="1300" dirty="0" err="1"/>
              <a:t>seluruh</a:t>
            </a:r>
            <a:r>
              <a:rPr lang="en-ID" sz="1300" dirty="0"/>
              <a:t> dataset </a:t>
            </a:r>
            <a:r>
              <a:rPr lang="en-ID" sz="1300" dirty="0" err="1"/>
              <a:t>menggunakan</a:t>
            </a:r>
            <a:r>
              <a:rPr lang="en-ID" sz="1300" dirty="0"/>
              <a:t> SK_ID_CURR </a:t>
            </a:r>
            <a:r>
              <a:rPr lang="en-ID" sz="1300" dirty="0" err="1"/>
              <a:t>sebagai</a:t>
            </a:r>
            <a:r>
              <a:rPr lang="en-ID" sz="1300" dirty="0"/>
              <a:t> primary key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D" sz="1300" dirty="0" err="1"/>
              <a:t>Menangani</a:t>
            </a:r>
            <a:r>
              <a:rPr lang="en-ID" sz="1300" dirty="0"/>
              <a:t> missing value</a:t>
            </a:r>
          </a:p>
          <a:p>
            <a:pPr marL="152400" indent="0">
              <a:buNone/>
            </a:pPr>
            <a:r>
              <a:rPr lang="en-ID" sz="1300" dirty="0"/>
              <a:t>	Data </a:t>
            </a:r>
            <a:r>
              <a:rPr lang="en-ID" sz="1300" dirty="0" err="1"/>
              <a:t>numerik</a:t>
            </a:r>
            <a:r>
              <a:rPr lang="en-ID" sz="1300" dirty="0"/>
              <a:t> </a:t>
            </a:r>
            <a:r>
              <a:rPr lang="en-ID" sz="1300" dirty="0" err="1"/>
              <a:t>diisi</a:t>
            </a:r>
            <a:r>
              <a:rPr lang="en-ID" sz="1300" dirty="0"/>
              <a:t> </a:t>
            </a:r>
            <a:r>
              <a:rPr lang="en-ID" sz="1300" dirty="0" err="1"/>
              <a:t>dengan</a:t>
            </a:r>
            <a:r>
              <a:rPr lang="en-ID" sz="1300" dirty="0"/>
              <a:t> </a:t>
            </a:r>
            <a:r>
              <a:rPr lang="en-ID" sz="1300" dirty="0" err="1"/>
              <a:t>nilai</a:t>
            </a:r>
            <a:r>
              <a:rPr lang="en-ID" sz="1300" dirty="0"/>
              <a:t> median</a:t>
            </a:r>
          </a:p>
          <a:p>
            <a:pPr marL="152400" indent="0">
              <a:buNone/>
            </a:pPr>
            <a:r>
              <a:rPr lang="en-ID" sz="1300" dirty="0"/>
              <a:t>	Data </a:t>
            </a:r>
            <a:r>
              <a:rPr lang="en-ID" sz="1300" dirty="0" err="1"/>
              <a:t>kategorikal</a:t>
            </a:r>
            <a:r>
              <a:rPr lang="en-ID" sz="1300" dirty="0"/>
              <a:t> </a:t>
            </a:r>
            <a:r>
              <a:rPr lang="en-ID" sz="1300" dirty="0" err="1"/>
              <a:t>diisi</a:t>
            </a:r>
            <a:r>
              <a:rPr lang="en-ID" sz="1300" dirty="0"/>
              <a:t> </a:t>
            </a:r>
            <a:r>
              <a:rPr lang="en-ID" sz="1300" dirty="0" err="1"/>
              <a:t>dengan</a:t>
            </a:r>
            <a:r>
              <a:rPr lang="en-ID" sz="1300" dirty="0"/>
              <a:t> </a:t>
            </a:r>
            <a:r>
              <a:rPr lang="en-ID" sz="1300" dirty="0" err="1"/>
              <a:t>kategori</a:t>
            </a:r>
            <a:r>
              <a:rPr lang="en-ID" sz="1300" dirty="0"/>
              <a:t> “Unknown”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D" sz="1300" dirty="0" err="1"/>
              <a:t>Melakukan</a:t>
            </a:r>
            <a:r>
              <a:rPr lang="en-ID" sz="1300" dirty="0"/>
              <a:t> encoding pada </a:t>
            </a:r>
            <a:r>
              <a:rPr lang="en-ID" sz="1300" dirty="0" err="1"/>
              <a:t>variabel</a:t>
            </a:r>
            <a:r>
              <a:rPr lang="en-ID" sz="1300" dirty="0"/>
              <a:t> </a:t>
            </a:r>
            <a:r>
              <a:rPr lang="en-ID" sz="1300" dirty="0" err="1"/>
              <a:t>kategorikal</a:t>
            </a:r>
            <a:endParaRPr lang="en-ID" sz="13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D" sz="1300" dirty="0" err="1"/>
              <a:t>Melakukan</a:t>
            </a:r>
            <a:r>
              <a:rPr lang="en-ID" sz="1300" dirty="0"/>
              <a:t> feature scaling </a:t>
            </a:r>
            <a:r>
              <a:rPr lang="en-ID" sz="1300" dirty="0" err="1"/>
              <a:t>menggunakan</a:t>
            </a:r>
            <a:r>
              <a:rPr lang="en-ID" sz="1300" dirty="0"/>
              <a:t> </a:t>
            </a:r>
            <a:r>
              <a:rPr lang="en-ID" sz="1300" dirty="0" err="1"/>
              <a:t>StandardScaler</a:t>
            </a:r>
            <a:endParaRPr lang="en-ID" sz="13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D" sz="1300" dirty="0" err="1"/>
              <a:t>Membagi</a:t>
            </a:r>
            <a:r>
              <a:rPr lang="en-ID" sz="1300" dirty="0"/>
              <a:t> data </a:t>
            </a:r>
            <a:r>
              <a:rPr lang="en-ID" sz="1300" dirty="0" err="1"/>
              <a:t>menjadi</a:t>
            </a:r>
            <a:r>
              <a:rPr lang="en-ID" sz="1300" dirty="0"/>
              <a:t> 80% data </a:t>
            </a:r>
            <a:r>
              <a:rPr lang="en-ID" sz="1300" dirty="0" err="1"/>
              <a:t>latih</a:t>
            </a:r>
            <a:r>
              <a:rPr lang="en-ID" sz="1300" dirty="0"/>
              <a:t> dan 20% data uji</a:t>
            </a:r>
          </a:p>
          <a:p>
            <a:pPr marL="152400" indent="0">
              <a:buNone/>
            </a:pPr>
            <a:r>
              <a:rPr lang="en-ID" sz="1300" b="1" dirty="0"/>
              <a:t>Feature Engineering</a:t>
            </a:r>
            <a:endParaRPr lang="en-ID" sz="13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D" sz="1300" dirty="0" err="1"/>
              <a:t>Membuat</a:t>
            </a:r>
            <a:r>
              <a:rPr lang="en-ID" sz="1300" dirty="0"/>
              <a:t> </a:t>
            </a:r>
            <a:r>
              <a:rPr lang="en-ID" sz="1300" dirty="0" err="1"/>
              <a:t>fitur</a:t>
            </a:r>
            <a:r>
              <a:rPr lang="en-ID" sz="1300" dirty="0"/>
              <a:t> </a:t>
            </a:r>
            <a:r>
              <a:rPr lang="en-ID" sz="1300" dirty="0" err="1"/>
              <a:t>agregasi</a:t>
            </a:r>
            <a:r>
              <a:rPr lang="en-ID" sz="1300" dirty="0"/>
              <a:t> </a:t>
            </a:r>
            <a:r>
              <a:rPr lang="en-ID" sz="1300" dirty="0" err="1"/>
              <a:t>dari</a:t>
            </a:r>
            <a:r>
              <a:rPr lang="en-ID" sz="1300" dirty="0"/>
              <a:t> data </a:t>
            </a:r>
            <a:r>
              <a:rPr lang="en-ID" sz="1300" dirty="0" err="1"/>
              <a:t>riwayat</a:t>
            </a:r>
            <a:r>
              <a:rPr lang="en-ID" sz="1300" dirty="0"/>
              <a:t> </a:t>
            </a:r>
            <a:r>
              <a:rPr lang="en-ID" sz="1300" dirty="0" err="1"/>
              <a:t>kredit</a:t>
            </a:r>
            <a:r>
              <a:rPr lang="en-ID" sz="1300" dirty="0"/>
              <a:t> </a:t>
            </a:r>
            <a:r>
              <a:rPr lang="en-ID" sz="1300" dirty="0" err="1"/>
              <a:t>eksternal</a:t>
            </a:r>
            <a:r>
              <a:rPr lang="en-ID" sz="1300" dirty="0"/>
              <a:t> (</a:t>
            </a:r>
            <a:r>
              <a:rPr lang="en-ID" sz="1300" b="1" dirty="0"/>
              <a:t>bureau</a:t>
            </a:r>
            <a:r>
              <a:rPr lang="en-ID" sz="1300" dirty="0"/>
              <a:t>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D" sz="1300" dirty="0" err="1"/>
              <a:t>Menghitung</a:t>
            </a:r>
            <a:r>
              <a:rPr lang="en-ID" sz="1300" dirty="0"/>
              <a:t> rata-rata </a:t>
            </a:r>
            <a:r>
              <a:rPr lang="en-ID" sz="1300" dirty="0" err="1"/>
              <a:t>nilai</a:t>
            </a:r>
            <a:r>
              <a:rPr lang="en-ID" sz="1300" dirty="0"/>
              <a:t> </a:t>
            </a:r>
            <a:r>
              <a:rPr lang="en-ID" sz="1300" dirty="0" err="1"/>
              <a:t>pengajuan</a:t>
            </a:r>
            <a:r>
              <a:rPr lang="en-ID" sz="1300" dirty="0"/>
              <a:t> </a:t>
            </a:r>
            <a:r>
              <a:rPr lang="en-ID" sz="1300" dirty="0" err="1"/>
              <a:t>pinjaman</a:t>
            </a:r>
            <a:r>
              <a:rPr lang="en-ID" sz="1300" dirty="0"/>
              <a:t> </a:t>
            </a:r>
            <a:r>
              <a:rPr lang="en-ID" sz="1300" dirty="0" err="1"/>
              <a:t>sebelumnya</a:t>
            </a:r>
            <a:r>
              <a:rPr lang="en-ID" sz="1300" dirty="0"/>
              <a:t> (</a:t>
            </a:r>
            <a:r>
              <a:rPr lang="en-ID" sz="1300" b="1" dirty="0" err="1"/>
              <a:t>previous_application</a:t>
            </a:r>
            <a:r>
              <a:rPr lang="en-ID" sz="1300" dirty="0"/>
              <a:t>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D" sz="1300" dirty="0" err="1"/>
              <a:t>Menghitung</a:t>
            </a:r>
            <a:r>
              <a:rPr lang="en-ID" sz="1300" dirty="0"/>
              <a:t> </a:t>
            </a:r>
            <a:r>
              <a:rPr lang="en-ID" sz="1300" dirty="0" err="1"/>
              <a:t>selisih</a:t>
            </a:r>
            <a:r>
              <a:rPr lang="en-ID" sz="1300" dirty="0"/>
              <a:t> </a:t>
            </a:r>
            <a:r>
              <a:rPr lang="en-ID" sz="1300" dirty="0" err="1"/>
              <a:t>pembayaran</a:t>
            </a:r>
            <a:r>
              <a:rPr lang="en-ID" sz="1300" dirty="0"/>
              <a:t> </a:t>
            </a:r>
            <a:r>
              <a:rPr lang="en-ID" sz="1300" dirty="0" err="1"/>
              <a:t>cicilan</a:t>
            </a:r>
            <a:r>
              <a:rPr lang="en-ID" sz="1300" dirty="0"/>
              <a:t> </a:t>
            </a:r>
            <a:r>
              <a:rPr lang="en-ID" sz="1300" dirty="0" err="1"/>
              <a:t>sebagai</a:t>
            </a:r>
            <a:r>
              <a:rPr lang="en-ID" sz="1300" dirty="0"/>
              <a:t> </a:t>
            </a:r>
            <a:r>
              <a:rPr lang="en-ID" sz="1300" dirty="0" err="1"/>
              <a:t>indikator</a:t>
            </a:r>
            <a:r>
              <a:rPr lang="en-ID" sz="1300" dirty="0"/>
              <a:t> </a:t>
            </a:r>
            <a:r>
              <a:rPr lang="en-ID" sz="1300" dirty="0" err="1"/>
              <a:t>keterlambatan</a:t>
            </a:r>
            <a:r>
              <a:rPr lang="en-ID" sz="1300" dirty="0"/>
              <a:t> (</a:t>
            </a:r>
            <a:r>
              <a:rPr lang="en-ID" sz="1300" b="1" dirty="0" err="1"/>
              <a:t>installments_payments</a:t>
            </a:r>
            <a:r>
              <a:rPr lang="en-ID" sz="1300" dirty="0"/>
              <a:t>)</a:t>
            </a:r>
          </a:p>
          <a:p>
            <a:pPr marL="152400" indent="0">
              <a:buNone/>
            </a:pPr>
            <a:r>
              <a:rPr lang="en-ID" sz="1300" b="1" dirty="0"/>
              <a:t>Machine Learning Model</a:t>
            </a:r>
            <a:endParaRPr lang="en-ID" sz="13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D" sz="1300" dirty="0"/>
              <a:t>Model yang </a:t>
            </a:r>
            <a:r>
              <a:rPr lang="en-ID" sz="1300" dirty="0" err="1"/>
              <a:t>digunakan</a:t>
            </a:r>
            <a:r>
              <a:rPr lang="en-ID" sz="1300" dirty="0"/>
              <a:t>: Logistic Regression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D" sz="1300" dirty="0"/>
              <a:t>Model </a:t>
            </a:r>
            <a:r>
              <a:rPr lang="en-ID" sz="1300" dirty="0" err="1"/>
              <a:t>digunakan</a:t>
            </a:r>
            <a:r>
              <a:rPr lang="en-ID" sz="1300" dirty="0"/>
              <a:t> </a:t>
            </a:r>
            <a:r>
              <a:rPr lang="en-ID" sz="1300" dirty="0" err="1"/>
              <a:t>untuk</a:t>
            </a:r>
            <a:r>
              <a:rPr lang="en-ID" sz="1300" dirty="0"/>
              <a:t> </a:t>
            </a:r>
            <a:r>
              <a:rPr lang="en-ID" sz="1300" dirty="0" err="1"/>
              <a:t>memprediksi</a:t>
            </a:r>
            <a:r>
              <a:rPr lang="en-ID" sz="1300" dirty="0"/>
              <a:t> </a:t>
            </a:r>
            <a:r>
              <a:rPr lang="en-ID" sz="1300" dirty="0" err="1"/>
              <a:t>probabilitas</a:t>
            </a:r>
            <a:r>
              <a:rPr lang="en-ID" sz="1300" dirty="0"/>
              <a:t> </a:t>
            </a:r>
            <a:r>
              <a:rPr lang="en-ID" sz="1300" dirty="0" err="1"/>
              <a:t>nasabah</a:t>
            </a:r>
            <a:r>
              <a:rPr lang="en-ID" sz="1300" dirty="0"/>
              <a:t> </a:t>
            </a:r>
            <a:r>
              <a:rPr lang="en-ID" sz="1300" dirty="0" err="1"/>
              <a:t>mengalami</a:t>
            </a:r>
            <a:r>
              <a:rPr lang="en-ID" sz="1300" dirty="0"/>
              <a:t> </a:t>
            </a:r>
            <a:r>
              <a:rPr lang="en-ID" sz="1300" dirty="0" err="1"/>
              <a:t>gagal</a:t>
            </a:r>
            <a:r>
              <a:rPr lang="en-ID" sz="1300" dirty="0"/>
              <a:t> </a:t>
            </a:r>
            <a:r>
              <a:rPr lang="en-ID" sz="1300" dirty="0" err="1"/>
              <a:t>bayar</a:t>
            </a:r>
            <a:r>
              <a:rPr lang="en-ID" sz="1300" dirty="0"/>
              <a:t> (default)</a:t>
            </a:r>
          </a:p>
          <a:p>
            <a:pPr marL="152400" indent="0">
              <a:buNone/>
            </a:pPr>
            <a:r>
              <a:rPr lang="en-ID" sz="1300" b="1" dirty="0"/>
              <a:t>Model Evaluation</a:t>
            </a:r>
            <a:endParaRPr lang="en-ID" sz="13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D" sz="1300" dirty="0" err="1"/>
              <a:t>Evaluasi</a:t>
            </a:r>
            <a:r>
              <a:rPr lang="en-ID" sz="1300" dirty="0"/>
              <a:t> </a:t>
            </a:r>
            <a:r>
              <a:rPr lang="en-ID" sz="1300" dirty="0" err="1"/>
              <a:t>performa</a:t>
            </a:r>
            <a:r>
              <a:rPr lang="en-ID" sz="1300" dirty="0"/>
              <a:t> model </a:t>
            </a:r>
            <a:r>
              <a:rPr lang="en-ID" sz="1300" dirty="0" err="1"/>
              <a:t>menggunakan</a:t>
            </a:r>
            <a:r>
              <a:rPr lang="en-ID" sz="1300" dirty="0"/>
              <a:t> AUC–ROC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D" sz="1300" dirty="0" err="1"/>
              <a:t>Analisis</a:t>
            </a:r>
            <a:r>
              <a:rPr lang="en-ID" sz="1300" dirty="0"/>
              <a:t> </a:t>
            </a:r>
            <a:r>
              <a:rPr lang="en-ID" sz="1300" dirty="0" err="1"/>
              <a:t>hasil</a:t>
            </a:r>
            <a:r>
              <a:rPr lang="en-ID" sz="1300" dirty="0"/>
              <a:t> </a:t>
            </a:r>
            <a:r>
              <a:rPr lang="en-ID" sz="1300" dirty="0" err="1"/>
              <a:t>prediksi</a:t>
            </a:r>
            <a:r>
              <a:rPr lang="en-ID" sz="1300" dirty="0"/>
              <a:t> </a:t>
            </a:r>
            <a:r>
              <a:rPr lang="en-ID" sz="1300" dirty="0" err="1"/>
              <a:t>menggunakan</a:t>
            </a:r>
            <a:r>
              <a:rPr lang="en-ID" sz="1300" dirty="0"/>
              <a:t> classification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>
            <a:spLocks noGrp="1"/>
          </p:cNvSpPr>
          <p:nvPr>
            <p:ph type="title"/>
          </p:nvPr>
        </p:nvSpPr>
        <p:spPr>
          <a:xfrm>
            <a:off x="6279450" y="539500"/>
            <a:ext cx="21513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INSIGHT (EDA)</a:t>
            </a:r>
            <a:endParaRPr dirty="0"/>
          </a:p>
        </p:txBody>
      </p:sp>
      <p:sp>
        <p:nvSpPr>
          <p:cNvPr id="285" name="Google Shape;285;p39"/>
          <p:cNvSpPr txBox="1">
            <a:spLocks noGrp="1"/>
          </p:cNvSpPr>
          <p:nvPr>
            <p:ph type="subTitle" idx="1"/>
          </p:nvPr>
        </p:nvSpPr>
        <p:spPr>
          <a:xfrm>
            <a:off x="6471958" y="1486025"/>
            <a:ext cx="2151300" cy="10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sz="1000" dirty="0"/>
              <a:t>Hasil exploratory data analysis </a:t>
            </a:r>
            <a:r>
              <a:rPr lang="en-ID" sz="1000" dirty="0" err="1"/>
              <a:t>menunjukkan</a:t>
            </a:r>
            <a:r>
              <a:rPr lang="en-ID" sz="1000" dirty="0"/>
              <a:t> </a:t>
            </a:r>
            <a:r>
              <a:rPr lang="en-ID" sz="1000" dirty="0" err="1"/>
              <a:t>bahwa</a:t>
            </a:r>
            <a:r>
              <a:rPr lang="en-ID" sz="1000" dirty="0"/>
              <a:t> </a:t>
            </a:r>
            <a:r>
              <a:rPr lang="en-ID" sz="1000" dirty="0" err="1"/>
              <a:t>nasabah</a:t>
            </a:r>
            <a:r>
              <a:rPr lang="en-ID" sz="1000" dirty="0"/>
              <a:t> </a:t>
            </a:r>
            <a:r>
              <a:rPr lang="en-ID" sz="1000" dirty="0" err="1"/>
              <a:t>dengan</a:t>
            </a:r>
            <a:r>
              <a:rPr lang="en-ID" sz="1000" dirty="0"/>
              <a:t> </a:t>
            </a:r>
            <a:r>
              <a:rPr lang="en-ID" sz="1000" dirty="0" err="1"/>
              <a:t>pendapatan</a:t>
            </a:r>
            <a:r>
              <a:rPr lang="en-ID" sz="1000" dirty="0"/>
              <a:t> </a:t>
            </a:r>
            <a:r>
              <a:rPr lang="en-ID" sz="1000" dirty="0" err="1"/>
              <a:t>lebih</a:t>
            </a:r>
            <a:r>
              <a:rPr lang="en-ID" sz="1000" dirty="0"/>
              <a:t> </a:t>
            </a:r>
            <a:r>
              <a:rPr lang="en-ID" sz="1000" dirty="0" err="1"/>
              <a:t>rendah</a:t>
            </a:r>
            <a:endParaRPr lang="en-ID" sz="1000" dirty="0"/>
          </a:p>
          <a:p>
            <a:pPr marL="0" lvl="0" indent="0"/>
            <a:r>
              <a:rPr lang="en-ID" sz="1000" dirty="0" err="1"/>
              <a:t>memiliki</a:t>
            </a:r>
            <a:r>
              <a:rPr lang="en-ID" sz="1000" dirty="0"/>
              <a:t> </a:t>
            </a:r>
            <a:r>
              <a:rPr lang="en-ID" sz="1000" dirty="0" err="1"/>
              <a:t>kecenderungan</a:t>
            </a:r>
            <a:r>
              <a:rPr lang="en-ID" sz="1000" dirty="0"/>
              <a:t> </a:t>
            </a:r>
            <a:r>
              <a:rPr lang="en-ID" sz="1000" dirty="0" err="1"/>
              <a:t>risiko</a:t>
            </a:r>
            <a:r>
              <a:rPr lang="en-ID" sz="1000" dirty="0"/>
              <a:t> </a:t>
            </a:r>
            <a:r>
              <a:rPr lang="en-ID" sz="1000" dirty="0" err="1"/>
              <a:t>gagal</a:t>
            </a:r>
            <a:r>
              <a:rPr lang="en-ID" sz="1000" dirty="0"/>
              <a:t> </a:t>
            </a:r>
            <a:r>
              <a:rPr lang="en-ID" sz="1000" dirty="0" err="1"/>
              <a:t>bayar</a:t>
            </a:r>
            <a:r>
              <a:rPr lang="en-ID" sz="1000" dirty="0"/>
              <a:t> (default) yang </a:t>
            </a:r>
            <a:r>
              <a:rPr lang="en-ID" sz="1000" dirty="0" err="1"/>
              <a:t>lebih</a:t>
            </a:r>
            <a:r>
              <a:rPr lang="en-ID" sz="1000" dirty="0"/>
              <a:t> </a:t>
            </a:r>
            <a:r>
              <a:rPr lang="en-ID" sz="1000" dirty="0" err="1"/>
              <a:t>tinggi</a:t>
            </a:r>
            <a:r>
              <a:rPr lang="en-ID" sz="1000" dirty="0"/>
              <a:t>.</a:t>
            </a:r>
            <a:endParaRPr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503C09-2F23-88BD-EFF6-EBB2B77E8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64" y="1283905"/>
            <a:ext cx="2844040" cy="30234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27F76A-CAED-C290-BB7A-E05713A89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8858" y="235085"/>
            <a:ext cx="2688934" cy="189381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58874C-4FAE-F50B-FD5C-01B9A4441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7585" y="2486939"/>
            <a:ext cx="3409784" cy="2523625"/>
          </a:xfrm>
          <a:prstGeom prst="rect">
            <a:avLst/>
          </a:prstGeom>
        </p:spPr>
      </p:pic>
      <p:sp>
        <p:nvSpPr>
          <p:cNvPr id="2" name="Google Shape;285;p39">
            <a:extLst>
              <a:ext uri="{FF2B5EF4-FFF2-40B4-BE49-F238E27FC236}">
                <a16:creationId xmlns:a16="http://schemas.microsoft.com/office/drawing/2014/main" id="{EE6B1180-6A3E-DDDF-B73C-123F771D11D5}"/>
              </a:ext>
            </a:extLst>
          </p:cNvPr>
          <p:cNvSpPr txBox="1">
            <a:spLocks/>
          </p:cNvSpPr>
          <p:nvPr/>
        </p:nvSpPr>
        <p:spPr>
          <a:xfrm>
            <a:off x="6761750" y="2946000"/>
            <a:ext cx="2151300" cy="1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ID" sz="1000" dirty="0"/>
              <a:t>Perusahaan </a:t>
            </a:r>
            <a:r>
              <a:rPr lang="en-ID" sz="1000" dirty="0" err="1"/>
              <a:t>dapat</a:t>
            </a:r>
            <a:r>
              <a:rPr lang="en-ID" sz="1000" dirty="0"/>
              <a:t> </a:t>
            </a:r>
            <a:r>
              <a:rPr lang="en-ID" sz="1000" dirty="0" err="1"/>
              <a:t>menerapkan</a:t>
            </a:r>
            <a:r>
              <a:rPr lang="en-ID" sz="1000" dirty="0"/>
              <a:t> </a:t>
            </a:r>
            <a:r>
              <a:rPr lang="en-ID" sz="1000" dirty="0" err="1"/>
              <a:t>pengetatan</a:t>
            </a:r>
            <a:r>
              <a:rPr lang="en-ID" sz="1000" dirty="0"/>
              <a:t> </a:t>
            </a:r>
            <a:r>
              <a:rPr lang="en-ID" sz="1000" dirty="0" err="1"/>
              <a:t>persetujuan</a:t>
            </a:r>
            <a:r>
              <a:rPr lang="en-ID" sz="1000" dirty="0"/>
              <a:t> </a:t>
            </a:r>
            <a:r>
              <a:rPr lang="en-ID" sz="1000" dirty="0" err="1"/>
              <a:t>kredit</a:t>
            </a:r>
            <a:r>
              <a:rPr lang="en-ID" sz="1000" dirty="0"/>
              <a:t> </a:t>
            </a:r>
            <a:r>
              <a:rPr lang="en-ID" sz="1000" dirty="0" err="1"/>
              <a:t>atau</a:t>
            </a:r>
            <a:r>
              <a:rPr lang="en-ID" sz="1000" dirty="0"/>
              <a:t> </a:t>
            </a:r>
            <a:r>
              <a:rPr lang="en-ID" sz="1000" dirty="0" err="1"/>
              <a:t>penyesuaian</a:t>
            </a:r>
            <a:r>
              <a:rPr lang="en-ID" sz="1000" dirty="0"/>
              <a:t> limit</a:t>
            </a:r>
          </a:p>
          <a:p>
            <a:pPr marL="0" indent="0"/>
            <a:r>
              <a:rPr lang="en-ID" sz="1000" dirty="0" err="1"/>
              <a:t>untuk</a:t>
            </a:r>
            <a:r>
              <a:rPr lang="en-ID" sz="1000" dirty="0"/>
              <a:t> </a:t>
            </a:r>
            <a:r>
              <a:rPr lang="en-ID" sz="1000" dirty="0" err="1"/>
              <a:t>segmen</a:t>
            </a:r>
            <a:r>
              <a:rPr lang="en-ID" sz="1000" dirty="0"/>
              <a:t> </a:t>
            </a:r>
            <a:r>
              <a:rPr lang="en-ID" sz="1000" dirty="0" err="1"/>
              <a:t>nasabah</a:t>
            </a:r>
            <a:r>
              <a:rPr lang="en-ID" sz="1000" dirty="0"/>
              <a:t> </a:t>
            </a:r>
            <a:r>
              <a:rPr lang="en-ID" sz="1000" dirty="0" err="1"/>
              <a:t>dengan</a:t>
            </a:r>
            <a:r>
              <a:rPr lang="en-ID" sz="1000" dirty="0"/>
              <a:t> </a:t>
            </a:r>
            <a:r>
              <a:rPr lang="en-ID" sz="1000" dirty="0" err="1"/>
              <a:t>pendapatan</a:t>
            </a:r>
            <a:r>
              <a:rPr lang="en-ID" sz="1000" dirty="0"/>
              <a:t> </a:t>
            </a:r>
            <a:r>
              <a:rPr lang="en-ID" sz="1000" dirty="0" err="1"/>
              <a:t>rendah</a:t>
            </a:r>
            <a:r>
              <a:rPr lang="en-ID" sz="10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0"/>
          <p:cNvSpPr txBox="1">
            <a:spLocks noGrp="1"/>
          </p:cNvSpPr>
          <p:nvPr>
            <p:ph type="subTitle" idx="1"/>
          </p:nvPr>
        </p:nvSpPr>
        <p:spPr>
          <a:xfrm>
            <a:off x="713225" y="3975200"/>
            <a:ext cx="4598400" cy="6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sz="1000" dirty="0"/>
              <a:t>Riwayat </a:t>
            </a:r>
            <a:r>
              <a:rPr lang="en-ID" sz="1000" dirty="0" err="1"/>
              <a:t>keterlambatan</a:t>
            </a:r>
            <a:r>
              <a:rPr lang="en-ID" sz="1000" dirty="0"/>
              <a:t> </a:t>
            </a:r>
            <a:r>
              <a:rPr lang="en-ID" sz="1000" dirty="0" err="1"/>
              <a:t>pembayaran</a:t>
            </a:r>
            <a:r>
              <a:rPr lang="en-ID" sz="1000" dirty="0"/>
              <a:t> </a:t>
            </a:r>
            <a:r>
              <a:rPr lang="en-ID" sz="1000" dirty="0" err="1"/>
              <a:t>cicilan</a:t>
            </a:r>
            <a:r>
              <a:rPr lang="en-ID" sz="1000" dirty="0"/>
              <a:t> </a:t>
            </a:r>
            <a:r>
              <a:rPr lang="en-ID" sz="1000" dirty="0" err="1"/>
              <a:t>memiliki</a:t>
            </a:r>
            <a:r>
              <a:rPr lang="en-ID" sz="1000" dirty="0"/>
              <a:t> </a:t>
            </a:r>
            <a:r>
              <a:rPr lang="en-ID" sz="1000" dirty="0" err="1"/>
              <a:t>hubungan</a:t>
            </a:r>
            <a:r>
              <a:rPr lang="en-ID" sz="1000" dirty="0"/>
              <a:t> yang </a:t>
            </a:r>
            <a:r>
              <a:rPr lang="en-ID" sz="1000" dirty="0" err="1"/>
              <a:t>kuat</a:t>
            </a:r>
            <a:r>
              <a:rPr lang="en-ID" sz="1000" dirty="0"/>
              <a:t> </a:t>
            </a:r>
            <a:r>
              <a:rPr lang="en-ID" sz="1000" dirty="0" err="1"/>
              <a:t>dengan</a:t>
            </a:r>
            <a:r>
              <a:rPr lang="en-ID" sz="1000" dirty="0"/>
              <a:t> </a:t>
            </a:r>
            <a:r>
              <a:rPr lang="en-ID" sz="1000" dirty="0" err="1"/>
              <a:t>peningkatan</a:t>
            </a:r>
            <a:r>
              <a:rPr lang="en-ID" sz="1000" dirty="0"/>
              <a:t> </a:t>
            </a:r>
            <a:r>
              <a:rPr lang="en-ID" sz="1000" dirty="0" err="1"/>
              <a:t>risiko</a:t>
            </a:r>
            <a:r>
              <a:rPr lang="en-ID" sz="1000" dirty="0"/>
              <a:t> </a:t>
            </a:r>
            <a:r>
              <a:rPr lang="en-ID" sz="1000" dirty="0" err="1"/>
              <a:t>gagal</a:t>
            </a:r>
            <a:r>
              <a:rPr lang="en-ID" sz="1000" dirty="0"/>
              <a:t> </a:t>
            </a:r>
            <a:r>
              <a:rPr lang="en-ID" sz="1000" dirty="0" err="1"/>
              <a:t>bayar</a:t>
            </a:r>
            <a:r>
              <a:rPr lang="en-ID" sz="1000" dirty="0"/>
              <a:t> </a:t>
            </a:r>
            <a:r>
              <a:rPr lang="en-ID" sz="1000" dirty="0" err="1"/>
              <a:t>nasabah</a:t>
            </a:r>
            <a:r>
              <a:rPr lang="en-ID" sz="1000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134126-3B7B-F943-04FF-71E8A58B9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 (EDA)</a:t>
            </a:r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68BEED-F4CC-4575-763B-1821EF095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249" y="176211"/>
            <a:ext cx="2961203" cy="28531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535DA7-77F9-C8E9-519D-4CE5ECA36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44" y="176211"/>
            <a:ext cx="2638688" cy="24758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A66924-94CE-1187-2B14-98EC75E05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5671" y="2830745"/>
            <a:ext cx="2930273" cy="2136544"/>
          </a:xfrm>
          <a:prstGeom prst="rect">
            <a:avLst/>
          </a:prstGeom>
        </p:spPr>
      </p:pic>
      <p:sp>
        <p:nvSpPr>
          <p:cNvPr id="2" name="Google Shape;294;p40">
            <a:extLst>
              <a:ext uri="{FF2B5EF4-FFF2-40B4-BE49-F238E27FC236}">
                <a16:creationId xmlns:a16="http://schemas.microsoft.com/office/drawing/2014/main" id="{CA539FE1-AC1B-B032-A5C4-FF9B2187A9F5}"/>
              </a:ext>
            </a:extLst>
          </p:cNvPr>
          <p:cNvSpPr txBox="1">
            <a:spLocks/>
          </p:cNvSpPr>
          <p:nvPr/>
        </p:nvSpPr>
        <p:spPr>
          <a:xfrm>
            <a:off x="713225" y="4470683"/>
            <a:ext cx="45984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ID" sz="1000" dirty="0" err="1"/>
              <a:t>Penerapan</a:t>
            </a:r>
            <a:r>
              <a:rPr lang="en-ID" sz="1000" dirty="0"/>
              <a:t> early warning system dan </a:t>
            </a:r>
            <a:r>
              <a:rPr lang="en-ID" sz="1000" dirty="0" err="1"/>
              <a:t>evaluasi</a:t>
            </a:r>
            <a:r>
              <a:rPr lang="en-ID" sz="1000" dirty="0"/>
              <a:t> </a:t>
            </a:r>
            <a:r>
              <a:rPr lang="en-ID" sz="1000" dirty="0" err="1"/>
              <a:t>berkala</a:t>
            </a:r>
            <a:r>
              <a:rPr lang="en-ID" sz="1000" dirty="0"/>
              <a:t> </a:t>
            </a:r>
            <a:r>
              <a:rPr lang="en-ID" sz="1000" dirty="0" err="1"/>
              <a:t>terhadap</a:t>
            </a:r>
            <a:r>
              <a:rPr lang="en-ID" sz="1000" dirty="0"/>
              <a:t> </a:t>
            </a:r>
            <a:r>
              <a:rPr lang="en-ID" sz="1000" dirty="0" err="1"/>
              <a:t>nasabah</a:t>
            </a:r>
            <a:endParaRPr lang="en-ID" sz="1000" dirty="0"/>
          </a:p>
          <a:p>
            <a:pPr marL="0" indent="0"/>
            <a:r>
              <a:rPr lang="en-ID" sz="1000" dirty="0" err="1"/>
              <a:t>dengan</a:t>
            </a:r>
            <a:r>
              <a:rPr lang="en-ID" sz="1000" dirty="0"/>
              <a:t> </a:t>
            </a:r>
            <a:r>
              <a:rPr lang="en-ID" sz="1000" dirty="0" err="1"/>
              <a:t>riwayat</a:t>
            </a:r>
            <a:r>
              <a:rPr lang="en-ID" sz="1000" dirty="0"/>
              <a:t> </a:t>
            </a:r>
            <a:r>
              <a:rPr lang="en-ID" sz="1000" dirty="0" err="1"/>
              <a:t>pembayaran</a:t>
            </a:r>
            <a:r>
              <a:rPr lang="en-ID" sz="1000" dirty="0"/>
              <a:t> </a:t>
            </a:r>
            <a:r>
              <a:rPr lang="en-ID" sz="1000" dirty="0" err="1"/>
              <a:t>buruk</a:t>
            </a:r>
            <a:r>
              <a:rPr lang="en-ID" sz="10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4"/>
          <p:cNvSpPr txBox="1">
            <a:spLocks noGrp="1"/>
          </p:cNvSpPr>
          <p:nvPr>
            <p:ph type="subTitle" idx="1"/>
          </p:nvPr>
        </p:nvSpPr>
        <p:spPr>
          <a:xfrm>
            <a:off x="4542409" y="3416275"/>
            <a:ext cx="3866766" cy="14437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sz="1000" dirty="0"/>
              <a:t>Feature Coefficient Analysis</a:t>
            </a:r>
          </a:p>
          <a:p>
            <a:pPr marL="0" lvl="0" indent="0"/>
            <a:r>
              <a:rPr lang="en-ID" sz="1000" dirty="0"/>
              <a:t>Hasil </a:t>
            </a:r>
            <a:r>
              <a:rPr lang="en-ID" sz="1000" dirty="0" err="1"/>
              <a:t>analisis</a:t>
            </a:r>
            <a:r>
              <a:rPr lang="en-ID" sz="1000" dirty="0"/>
              <a:t> </a:t>
            </a:r>
            <a:r>
              <a:rPr lang="en-ID" sz="1000" dirty="0" err="1"/>
              <a:t>koefisien</a:t>
            </a:r>
            <a:r>
              <a:rPr lang="en-ID" sz="1000" dirty="0"/>
              <a:t> pada model Logistic Regression </a:t>
            </a:r>
            <a:r>
              <a:rPr lang="en-ID" sz="1000" dirty="0" err="1"/>
              <a:t>menunjukkan</a:t>
            </a:r>
            <a:r>
              <a:rPr lang="en-ID" sz="1000" dirty="0"/>
              <a:t> </a:t>
            </a:r>
            <a:r>
              <a:rPr lang="en-ID" sz="1000" dirty="0" err="1"/>
              <a:t>bahwa</a:t>
            </a:r>
            <a:r>
              <a:rPr lang="en-ID" sz="1000" dirty="0"/>
              <a:t> </a:t>
            </a:r>
            <a:r>
              <a:rPr lang="en-ID" sz="1000" dirty="0" err="1"/>
              <a:t>beberapa</a:t>
            </a:r>
            <a:r>
              <a:rPr lang="en-ID" sz="1000" dirty="0"/>
              <a:t> </a:t>
            </a:r>
            <a:r>
              <a:rPr lang="en-ID" sz="1000" dirty="0" err="1"/>
              <a:t>variabel</a:t>
            </a:r>
            <a:r>
              <a:rPr lang="en-ID" sz="1000" dirty="0"/>
              <a:t> </a:t>
            </a:r>
            <a:r>
              <a:rPr lang="en-ID" sz="1000" dirty="0" err="1"/>
              <a:t>memiliki</a:t>
            </a:r>
            <a:r>
              <a:rPr lang="en-ID" sz="1000" dirty="0"/>
              <a:t> </a:t>
            </a:r>
            <a:r>
              <a:rPr lang="en-ID" sz="1000" dirty="0" err="1"/>
              <a:t>pengaruh</a:t>
            </a:r>
            <a:r>
              <a:rPr lang="en-ID" sz="1000" dirty="0"/>
              <a:t> </a:t>
            </a:r>
            <a:r>
              <a:rPr lang="en-ID" sz="1000" dirty="0" err="1"/>
              <a:t>signifikan</a:t>
            </a:r>
            <a:r>
              <a:rPr lang="en-ID" sz="1000" dirty="0"/>
              <a:t> </a:t>
            </a:r>
            <a:r>
              <a:rPr lang="en-ID" sz="1000" dirty="0" err="1"/>
              <a:t>terhadap</a:t>
            </a:r>
            <a:r>
              <a:rPr lang="en-ID" sz="1000" dirty="0"/>
              <a:t> </a:t>
            </a:r>
            <a:r>
              <a:rPr lang="en-ID" sz="1000" dirty="0" err="1"/>
              <a:t>risiko</a:t>
            </a:r>
            <a:r>
              <a:rPr lang="en-ID" sz="1000" dirty="0"/>
              <a:t> </a:t>
            </a:r>
            <a:r>
              <a:rPr lang="en-ID" sz="1000" dirty="0" err="1"/>
              <a:t>gagal</a:t>
            </a:r>
            <a:r>
              <a:rPr lang="en-ID" sz="1000" dirty="0"/>
              <a:t> </a:t>
            </a:r>
            <a:r>
              <a:rPr lang="en-ID" sz="1000" dirty="0" err="1"/>
              <a:t>bayar</a:t>
            </a:r>
            <a:r>
              <a:rPr lang="en-ID" sz="1000" dirty="0"/>
              <a:t> </a:t>
            </a:r>
            <a:r>
              <a:rPr lang="en-ID" sz="1000" dirty="0" err="1"/>
              <a:t>nasabah</a:t>
            </a:r>
            <a:r>
              <a:rPr lang="en-ID" sz="1000" dirty="0"/>
              <a:t>.</a:t>
            </a:r>
          </a:p>
          <a:p>
            <a:pPr marL="0" lvl="0" indent="0"/>
            <a:endParaRPr lang="en-ID" sz="1000" dirty="0"/>
          </a:p>
          <a:p>
            <a:pPr marL="0" lvl="0" indent="0"/>
            <a:r>
              <a:rPr lang="en-ID" sz="1000" dirty="0" err="1"/>
              <a:t>Variabel</a:t>
            </a:r>
            <a:r>
              <a:rPr lang="en-ID" sz="1000" dirty="0"/>
              <a:t> </a:t>
            </a:r>
            <a:r>
              <a:rPr lang="en-ID" sz="1000" dirty="0" err="1"/>
              <a:t>seperti</a:t>
            </a:r>
            <a:r>
              <a:rPr lang="en-ID" sz="1000" dirty="0"/>
              <a:t> </a:t>
            </a:r>
            <a:r>
              <a:rPr lang="en-ID" sz="1000" dirty="0" err="1"/>
              <a:t>riwayat</a:t>
            </a:r>
            <a:r>
              <a:rPr lang="en-ID" sz="1000" dirty="0"/>
              <a:t> </a:t>
            </a:r>
            <a:r>
              <a:rPr lang="en-ID" sz="1000" dirty="0" err="1"/>
              <a:t>keterlambatan</a:t>
            </a:r>
            <a:r>
              <a:rPr lang="en-ID" sz="1000" dirty="0"/>
              <a:t> </a:t>
            </a:r>
            <a:r>
              <a:rPr lang="en-ID" sz="1000" dirty="0" err="1"/>
              <a:t>pembayaran</a:t>
            </a:r>
            <a:r>
              <a:rPr lang="en-ID" sz="1000" dirty="0"/>
              <a:t>, </a:t>
            </a:r>
            <a:r>
              <a:rPr lang="en-ID" sz="1000" dirty="0" err="1"/>
              <a:t>jumlah</a:t>
            </a:r>
            <a:r>
              <a:rPr lang="en-ID" sz="1000" dirty="0"/>
              <a:t> </a:t>
            </a:r>
            <a:r>
              <a:rPr lang="en-ID" sz="1000" dirty="0" err="1"/>
              <a:t>kredit</a:t>
            </a:r>
            <a:r>
              <a:rPr lang="en-ID" sz="1000" dirty="0"/>
              <a:t>, dan </a:t>
            </a:r>
            <a:r>
              <a:rPr lang="en-ID" sz="1000" dirty="0" err="1"/>
              <a:t>pendapatan</a:t>
            </a:r>
            <a:r>
              <a:rPr lang="en-ID" sz="1000" dirty="0"/>
              <a:t> </a:t>
            </a:r>
            <a:r>
              <a:rPr lang="en-ID" sz="1000" dirty="0" err="1"/>
              <a:t>nasabah</a:t>
            </a:r>
            <a:r>
              <a:rPr lang="en-ID" sz="1000" dirty="0"/>
              <a:t> </a:t>
            </a:r>
            <a:r>
              <a:rPr lang="en-ID" sz="1000" dirty="0" err="1"/>
              <a:t>memiliki</a:t>
            </a:r>
            <a:r>
              <a:rPr lang="en-ID" sz="1000" dirty="0"/>
              <a:t> </a:t>
            </a:r>
            <a:r>
              <a:rPr lang="en-ID" sz="1000" dirty="0" err="1"/>
              <a:t>kontribusi</a:t>
            </a:r>
            <a:r>
              <a:rPr lang="en-ID" sz="1000" dirty="0"/>
              <a:t> </a:t>
            </a:r>
            <a:r>
              <a:rPr lang="en-ID" sz="1000" dirty="0" err="1"/>
              <a:t>terbesar</a:t>
            </a:r>
            <a:r>
              <a:rPr lang="en-ID" sz="1000" dirty="0"/>
              <a:t> </a:t>
            </a:r>
            <a:r>
              <a:rPr lang="en-ID" sz="1000" dirty="0" err="1"/>
              <a:t>dalam</a:t>
            </a:r>
            <a:r>
              <a:rPr lang="en-ID" sz="1000" dirty="0"/>
              <a:t> </a:t>
            </a:r>
            <a:r>
              <a:rPr lang="en-ID" sz="1000" dirty="0" err="1"/>
              <a:t>meningkatkan</a:t>
            </a:r>
            <a:r>
              <a:rPr lang="en-ID" sz="1000" dirty="0"/>
              <a:t> </a:t>
            </a:r>
            <a:r>
              <a:rPr lang="en-ID" sz="1000" dirty="0" err="1"/>
              <a:t>maupun</a:t>
            </a:r>
            <a:r>
              <a:rPr lang="en-ID" sz="1000" dirty="0"/>
              <a:t> </a:t>
            </a:r>
            <a:r>
              <a:rPr lang="en-ID" sz="1000" dirty="0" err="1"/>
              <a:t>menurunkan</a:t>
            </a:r>
            <a:r>
              <a:rPr lang="en-ID" sz="1000" dirty="0"/>
              <a:t> </a:t>
            </a:r>
            <a:r>
              <a:rPr lang="en-ID" sz="1000" dirty="0" err="1"/>
              <a:t>probabilitas</a:t>
            </a:r>
            <a:r>
              <a:rPr lang="en-ID" sz="1000" dirty="0"/>
              <a:t> default.</a:t>
            </a:r>
          </a:p>
        </p:txBody>
      </p:sp>
      <p:sp>
        <p:nvSpPr>
          <p:cNvPr id="341" name="Google Shape;341;p44"/>
          <p:cNvSpPr txBox="1"/>
          <p:nvPr/>
        </p:nvSpPr>
        <p:spPr>
          <a:xfrm>
            <a:off x="734825" y="367750"/>
            <a:ext cx="16995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PORTFOLIO 2025</a:t>
            </a:r>
          </a:p>
        </p:txBody>
      </p:sp>
      <p:sp>
        <p:nvSpPr>
          <p:cNvPr id="2" name="Google Shape;214;p34">
            <a:extLst>
              <a:ext uri="{FF2B5EF4-FFF2-40B4-BE49-F238E27FC236}">
                <a16:creationId xmlns:a16="http://schemas.microsoft.com/office/drawing/2014/main" id="{5F329485-841E-3EB2-0B32-DB296E1FF622}"/>
              </a:ext>
            </a:extLst>
          </p:cNvPr>
          <p:cNvSpPr txBox="1">
            <a:spLocks/>
          </p:cNvSpPr>
          <p:nvPr/>
        </p:nvSpPr>
        <p:spPr>
          <a:xfrm>
            <a:off x="705175" y="662824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fair Display Medium"/>
              <a:buNone/>
              <a:defRPr sz="6000" b="0" i="0" u="none" strike="noStrike" cap="none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fair Display"/>
              <a:buNone/>
              <a:defRPr sz="96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fair Display"/>
              <a:buNone/>
              <a:defRPr sz="96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fair Display"/>
              <a:buNone/>
              <a:defRPr sz="96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fair Display"/>
              <a:buNone/>
              <a:defRPr sz="96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fair Display"/>
              <a:buNone/>
              <a:defRPr sz="96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fair Display"/>
              <a:buNone/>
              <a:defRPr sz="96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fair Display"/>
              <a:buNone/>
              <a:defRPr sz="96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fair Display"/>
              <a:buNone/>
              <a:defRPr sz="96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 sz="2800" dirty="0"/>
              <a:t>MODEL EVALUATION &amp; INTERPRETATION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3D2AAB-A9D6-C2E9-AC4A-8CB635E1C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54" y="3286083"/>
            <a:ext cx="1923371" cy="15739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222CF7-4CB5-8788-B4FB-0152F082E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05" y="1426148"/>
            <a:ext cx="1961422" cy="15739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838DD5-5A84-987F-E318-F78BA5A252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553" t="29110" r="64107" b="36825"/>
          <a:stretch>
            <a:fillRect/>
          </a:stretch>
        </p:blipFill>
        <p:spPr>
          <a:xfrm>
            <a:off x="5237218" y="1453125"/>
            <a:ext cx="2884243" cy="1763472"/>
          </a:xfrm>
          <a:prstGeom prst="rect">
            <a:avLst/>
          </a:prstGeom>
        </p:spPr>
      </p:pic>
      <p:sp>
        <p:nvSpPr>
          <p:cNvPr id="3" name="Google Shape;340;p44">
            <a:extLst>
              <a:ext uri="{FF2B5EF4-FFF2-40B4-BE49-F238E27FC236}">
                <a16:creationId xmlns:a16="http://schemas.microsoft.com/office/drawing/2014/main" id="{D968801A-AA2D-14B6-D29D-A214CF56E91E}"/>
              </a:ext>
            </a:extLst>
          </p:cNvPr>
          <p:cNvSpPr txBox="1">
            <a:spLocks/>
          </p:cNvSpPr>
          <p:nvPr/>
        </p:nvSpPr>
        <p:spPr>
          <a:xfrm>
            <a:off x="2461460" y="1253446"/>
            <a:ext cx="2488045" cy="2819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"/>
              <a:buNone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DM Sans"/>
              <a:buNone/>
              <a:defRPr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ID" sz="1000" dirty="0"/>
              <a:t>Model </a:t>
            </a:r>
            <a:r>
              <a:rPr lang="en-ID" sz="1000" dirty="0" err="1"/>
              <a:t>dievaluasi</a:t>
            </a:r>
            <a:r>
              <a:rPr lang="en-ID" sz="1000" dirty="0"/>
              <a:t> </a:t>
            </a:r>
            <a:r>
              <a:rPr lang="en-ID" sz="1000" dirty="0" err="1"/>
              <a:t>menggunakan</a:t>
            </a:r>
            <a:r>
              <a:rPr lang="en-ID" sz="1000" dirty="0"/>
              <a:t> AUC–ROC dan Confusion Matrix </a:t>
            </a:r>
            <a:r>
              <a:rPr lang="en-ID" sz="1000" dirty="0" err="1"/>
              <a:t>untuk</a:t>
            </a:r>
            <a:r>
              <a:rPr lang="en-ID" sz="1000" dirty="0"/>
              <a:t> </a:t>
            </a:r>
            <a:r>
              <a:rPr lang="en-ID" sz="1000" dirty="0" err="1"/>
              <a:t>mengukur</a:t>
            </a:r>
            <a:r>
              <a:rPr lang="en-ID" sz="1000" dirty="0"/>
              <a:t> </a:t>
            </a:r>
            <a:r>
              <a:rPr lang="en-ID" sz="1000" dirty="0" err="1"/>
              <a:t>kemampuan</a:t>
            </a:r>
            <a:r>
              <a:rPr lang="en-ID" sz="1000" dirty="0"/>
              <a:t> model </a:t>
            </a:r>
            <a:r>
              <a:rPr lang="en-ID" sz="1000" dirty="0" err="1"/>
              <a:t>dalam</a:t>
            </a:r>
            <a:r>
              <a:rPr lang="en-ID" sz="1000" dirty="0"/>
              <a:t> </a:t>
            </a:r>
            <a:r>
              <a:rPr lang="en-ID" sz="1000" dirty="0" err="1"/>
              <a:t>membedakan</a:t>
            </a:r>
            <a:r>
              <a:rPr lang="en-ID" sz="1000" dirty="0"/>
              <a:t> </a:t>
            </a:r>
            <a:r>
              <a:rPr lang="en-ID" sz="1000" dirty="0" err="1"/>
              <a:t>nasabah</a:t>
            </a:r>
            <a:r>
              <a:rPr lang="en-ID" sz="1000" dirty="0"/>
              <a:t> </a:t>
            </a:r>
            <a:r>
              <a:rPr lang="en-ID" sz="1000" dirty="0" err="1"/>
              <a:t>berisiko</a:t>
            </a:r>
            <a:r>
              <a:rPr lang="en-ID" sz="1000" dirty="0"/>
              <a:t> dan </a:t>
            </a:r>
            <a:r>
              <a:rPr lang="en-ID" sz="1000" dirty="0" err="1"/>
              <a:t>tidak</a:t>
            </a:r>
            <a:r>
              <a:rPr lang="en-ID" sz="1000" dirty="0"/>
              <a:t> </a:t>
            </a:r>
            <a:r>
              <a:rPr lang="en-ID" sz="1000" dirty="0" err="1"/>
              <a:t>berisiko</a:t>
            </a:r>
            <a:r>
              <a:rPr lang="en-ID" sz="1000" dirty="0"/>
              <a:t>.</a:t>
            </a:r>
          </a:p>
          <a:p>
            <a:pPr marL="0" indent="0"/>
            <a:endParaRPr lang="en-ID" sz="1000" dirty="0"/>
          </a:p>
          <a:p>
            <a:pPr marL="0" indent="0"/>
            <a:r>
              <a:rPr lang="en-ID" sz="1000" dirty="0"/>
              <a:t>Hasil </a:t>
            </a:r>
            <a:r>
              <a:rPr lang="en-ID" sz="1000" dirty="0" err="1"/>
              <a:t>evaluasi</a:t>
            </a:r>
            <a:r>
              <a:rPr lang="en-ID" sz="1000" dirty="0"/>
              <a:t> </a:t>
            </a:r>
            <a:r>
              <a:rPr lang="en-ID" sz="1000" dirty="0" err="1"/>
              <a:t>menunjukkan</a:t>
            </a:r>
            <a:r>
              <a:rPr lang="en-ID" sz="1000" dirty="0"/>
              <a:t> </a:t>
            </a:r>
            <a:r>
              <a:rPr lang="en-ID" sz="1000" dirty="0" err="1"/>
              <a:t>bahwa</a:t>
            </a:r>
            <a:r>
              <a:rPr lang="en-ID" sz="1000" dirty="0"/>
              <a:t> model Logistic Regression </a:t>
            </a:r>
            <a:r>
              <a:rPr lang="en-ID" sz="1000" dirty="0" err="1"/>
              <a:t>memiliki</a:t>
            </a:r>
            <a:r>
              <a:rPr lang="en-ID" sz="1000" dirty="0"/>
              <a:t> </a:t>
            </a:r>
            <a:r>
              <a:rPr lang="en-ID" sz="1000" dirty="0" err="1"/>
              <a:t>performa</a:t>
            </a:r>
            <a:r>
              <a:rPr lang="en-ID" sz="1000" dirty="0"/>
              <a:t> yang </a:t>
            </a:r>
            <a:r>
              <a:rPr lang="en-ID" sz="1000" dirty="0" err="1"/>
              <a:t>cukup</a:t>
            </a:r>
            <a:r>
              <a:rPr lang="en-ID" sz="1000" dirty="0"/>
              <a:t> </a:t>
            </a:r>
            <a:r>
              <a:rPr lang="en-ID" sz="1000" dirty="0" err="1"/>
              <a:t>baik</a:t>
            </a:r>
            <a:r>
              <a:rPr lang="en-ID" sz="1000" dirty="0"/>
              <a:t> dan </a:t>
            </a:r>
            <a:r>
              <a:rPr lang="en-ID" sz="1000" dirty="0" err="1"/>
              <a:t>stabil</a:t>
            </a:r>
            <a:r>
              <a:rPr lang="en-ID" sz="1000" dirty="0"/>
              <a:t> </a:t>
            </a:r>
            <a:r>
              <a:rPr lang="en-ID" sz="1000" dirty="0" err="1"/>
              <a:t>dalam</a:t>
            </a:r>
            <a:r>
              <a:rPr lang="en-ID" sz="1000" dirty="0"/>
              <a:t> </a:t>
            </a:r>
            <a:r>
              <a:rPr lang="en-ID" sz="1000" dirty="0" err="1"/>
              <a:t>memprediksi</a:t>
            </a:r>
            <a:r>
              <a:rPr lang="en-ID" sz="1000" dirty="0"/>
              <a:t> </a:t>
            </a:r>
            <a:r>
              <a:rPr lang="en-ID" sz="1000" dirty="0" err="1"/>
              <a:t>risiko</a:t>
            </a:r>
            <a:r>
              <a:rPr lang="en-ID" sz="1000" dirty="0"/>
              <a:t> </a:t>
            </a:r>
            <a:r>
              <a:rPr lang="en-ID" sz="1000" dirty="0" err="1"/>
              <a:t>gagal</a:t>
            </a:r>
            <a:r>
              <a:rPr lang="en-ID" sz="1000" dirty="0"/>
              <a:t> </a:t>
            </a:r>
            <a:r>
              <a:rPr lang="en-ID" sz="1000" dirty="0" err="1"/>
              <a:t>bayar</a:t>
            </a:r>
            <a:r>
              <a:rPr lang="en-ID" sz="1000" dirty="0"/>
              <a:t>, </a:t>
            </a:r>
            <a:r>
              <a:rPr lang="en-ID" sz="1000" dirty="0" err="1"/>
              <a:t>sehingga</a:t>
            </a:r>
            <a:r>
              <a:rPr lang="en-ID" sz="1000" dirty="0"/>
              <a:t> </a:t>
            </a:r>
            <a:r>
              <a:rPr lang="en-ID" sz="1000" dirty="0" err="1"/>
              <a:t>dapat</a:t>
            </a:r>
            <a:r>
              <a:rPr lang="en-ID" sz="1000" dirty="0"/>
              <a:t> </a:t>
            </a:r>
            <a:r>
              <a:rPr lang="en-ID" sz="1000" dirty="0" err="1"/>
              <a:t>digunakan</a:t>
            </a:r>
            <a:r>
              <a:rPr lang="en-ID" sz="1000" dirty="0"/>
              <a:t> </a:t>
            </a:r>
            <a:r>
              <a:rPr lang="en-ID" sz="1000" dirty="0" err="1"/>
              <a:t>sebagai</a:t>
            </a:r>
            <a:r>
              <a:rPr lang="en-ID" sz="1000" dirty="0"/>
              <a:t> </a:t>
            </a:r>
            <a:r>
              <a:rPr lang="en-ID" sz="1000" dirty="0" err="1"/>
              <a:t>dasar</a:t>
            </a:r>
            <a:r>
              <a:rPr lang="en-ID" sz="1000" dirty="0"/>
              <a:t> </a:t>
            </a:r>
            <a:r>
              <a:rPr lang="en-ID" sz="1000" dirty="0" err="1"/>
              <a:t>pengambilan</a:t>
            </a:r>
            <a:r>
              <a:rPr lang="en-ID" sz="1000" dirty="0"/>
              <a:t> </a:t>
            </a:r>
            <a:r>
              <a:rPr lang="en-ID" sz="1000" dirty="0" err="1"/>
              <a:t>keputusan</a:t>
            </a:r>
            <a:r>
              <a:rPr lang="en-ID" sz="1000" dirty="0"/>
              <a:t> </a:t>
            </a:r>
            <a:r>
              <a:rPr lang="en-ID" sz="1000" dirty="0" err="1"/>
              <a:t>kredit</a:t>
            </a:r>
            <a:r>
              <a:rPr lang="en-ID" sz="10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BUSINESS RECOMMENDATION</a:t>
            </a:r>
            <a:endParaRPr dirty="0"/>
          </a:p>
        </p:txBody>
      </p:sp>
      <p:sp>
        <p:nvSpPr>
          <p:cNvPr id="352" name="Google Shape;352;p45"/>
          <p:cNvSpPr txBox="1"/>
          <p:nvPr/>
        </p:nvSpPr>
        <p:spPr>
          <a:xfrm>
            <a:off x="622671" y="2751363"/>
            <a:ext cx="7990649" cy="17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ID" sz="1200" dirty="0" err="1"/>
              <a:t>Berdasarkan</a:t>
            </a:r>
            <a:r>
              <a:rPr lang="en-ID" sz="1200" dirty="0"/>
              <a:t> </a:t>
            </a:r>
            <a:r>
              <a:rPr lang="en-ID" sz="1200" dirty="0" err="1"/>
              <a:t>hasil</a:t>
            </a:r>
            <a:r>
              <a:rPr lang="en-ID" sz="1200" dirty="0"/>
              <a:t> exploratory data analysis dan </a:t>
            </a:r>
            <a:r>
              <a:rPr lang="en-ID" sz="1200" dirty="0" err="1"/>
              <a:t>pemodelan</a:t>
            </a:r>
            <a:r>
              <a:rPr lang="en-ID" sz="1200" dirty="0"/>
              <a:t> machine learning, </a:t>
            </a:r>
            <a:r>
              <a:rPr lang="en-ID" sz="1200" dirty="0" err="1"/>
              <a:t>perusahaan</a:t>
            </a:r>
            <a:r>
              <a:rPr lang="en-ID" sz="1200" dirty="0"/>
              <a:t> </a:t>
            </a:r>
            <a:r>
              <a:rPr lang="en-ID" sz="1200" dirty="0" err="1"/>
              <a:t>pembiayaan</a:t>
            </a:r>
            <a:r>
              <a:rPr lang="en-ID" sz="1200" dirty="0"/>
              <a:t>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memanfaatkan</a:t>
            </a:r>
            <a:r>
              <a:rPr lang="en-ID" sz="1200" dirty="0"/>
              <a:t> output </a:t>
            </a:r>
            <a:r>
              <a:rPr lang="en-ID" sz="1200" dirty="0" err="1"/>
              <a:t>probabilitas</a:t>
            </a:r>
            <a:r>
              <a:rPr lang="en-ID" sz="1200" dirty="0"/>
              <a:t> default </a:t>
            </a:r>
            <a:r>
              <a:rPr lang="en-ID" sz="1200" dirty="0" err="1"/>
              <a:t>sebagai</a:t>
            </a:r>
            <a:r>
              <a:rPr lang="en-ID" sz="1200" dirty="0"/>
              <a:t> </a:t>
            </a:r>
            <a:r>
              <a:rPr lang="en-ID" sz="1200" dirty="0" err="1"/>
              <a:t>dasar</a:t>
            </a:r>
            <a:r>
              <a:rPr lang="en-ID" sz="1200" dirty="0"/>
              <a:t> </a:t>
            </a:r>
            <a:r>
              <a:rPr lang="en-ID" sz="1200" dirty="0" err="1"/>
              <a:t>pengambilan</a:t>
            </a:r>
            <a:r>
              <a:rPr lang="en-ID" sz="1200" dirty="0"/>
              <a:t> </a:t>
            </a:r>
            <a:r>
              <a:rPr lang="en-ID" sz="1200" dirty="0" err="1"/>
              <a:t>keputusan</a:t>
            </a:r>
            <a:r>
              <a:rPr lang="en-ID" sz="1200" dirty="0"/>
              <a:t> </a:t>
            </a:r>
            <a:r>
              <a:rPr lang="en-ID" sz="1200" dirty="0" err="1"/>
              <a:t>kredit</a:t>
            </a:r>
            <a:r>
              <a:rPr lang="en-ID" sz="1200" dirty="0"/>
              <a:t> yang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objektif</a:t>
            </a:r>
            <a:r>
              <a:rPr lang="en-ID" sz="1200" dirty="0"/>
              <a:t> dan </a:t>
            </a:r>
            <a:r>
              <a:rPr lang="en-ID" sz="1200" dirty="0" err="1"/>
              <a:t>berbasis</a:t>
            </a:r>
            <a:r>
              <a:rPr lang="en-ID" sz="1200" dirty="0"/>
              <a:t> data. Model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digunakan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mengelompokkan</a:t>
            </a:r>
            <a:r>
              <a:rPr lang="en-ID" sz="1200" dirty="0"/>
              <a:t> </a:t>
            </a:r>
            <a:r>
              <a:rPr lang="en-ID" sz="1200" dirty="0" err="1"/>
              <a:t>nasabah</a:t>
            </a:r>
            <a:r>
              <a:rPr lang="en-ID" sz="1200" dirty="0"/>
              <a:t> </a:t>
            </a:r>
            <a:r>
              <a:rPr lang="en-ID" sz="1200" dirty="0" err="1"/>
              <a:t>ke</a:t>
            </a:r>
            <a:r>
              <a:rPr lang="en-ID" sz="1200" dirty="0"/>
              <a:t> </a:t>
            </a:r>
            <a:r>
              <a:rPr lang="en-ID" sz="1200" dirty="0" err="1"/>
              <a:t>dalam</a:t>
            </a:r>
            <a:r>
              <a:rPr lang="en-ID" sz="1200" dirty="0"/>
              <a:t> </a:t>
            </a:r>
            <a:r>
              <a:rPr lang="en-ID" sz="1200" dirty="0" err="1"/>
              <a:t>beberapa</a:t>
            </a:r>
            <a:r>
              <a:rPr lang="en-ID" sz="1200" dirty="0"/>
              <a:t> </a:t>
            </a:r>
            <a:r>
              <a:rPr lang="en-ID" sz="1200" dirty="0" err="1"/>
              <a:t>tingkat</a:t>
            </a:r>
            <a:r>
              <a:rPr lang="en-ID" sz="1200" dirty="0"/>
              <a:t> </a:t>
            </a:r>
            <a:r>
              <a:rPr lang="en-ID" sz="1200" dirty="0" err="1"/>
              <a:t>risiko</a:t>
            </a:r>
            <a:r>
              <a:rPr lang="en-ID" sz="1200" dirty="0"/>
              <a:t> guna </a:t>
            </a:r>
            <a:r>
              <a:rPr lang="en-ID" sz="1200" dirty="0" err="1"/>
              <a:t>mendukung</a:t>
            </a:r>
            <a:r>
              <a:rPr lang="en-ID" sz="1200" dirty="0"/>
              <a:t> proses </a:t>
            </a:r>
            <a:r>
              <a:rPr lang="en-ID" sz="1200" dirty="0" err="1"/>
              <a:t>persetujuan</a:t>
            </a:r>
            <a:r>
              <a:rPr lang="en-ID" sz="1200" dirty="0"/>
              <a:t> </a:t>
            </a:r>
            <a:r>
              <a:rPr lang="en-ID" sz="1200" dirty="0" err="1"/>
              <a:t>kredit</a:t>
            </a:r>
            <a:r>
              <a:rPr lang="en-ID" sz="1200" dirty="0"/>
              <a:t>.</a:t>
            </a:r>
          </a:p>
          <a:p>
            <a:pPr algn="just"/>
            <a:endParaRPr lang="en-ID" sz="1200" dirty="0"/>
          </a:p>
          <a:p>
            <a:pPr algn="just"/>
            <a:r>
              <a:rPr lang="en-ID" sz="1200" dirty="0" err="1"/>
              <a:t>Nasabah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probabilitas</a:t>
            </a:r>
            <a:r>
              <a:rPr lang="en-ID" sz="1200" dirty="0"/>
              <a:t> default </a:t>
            </a:r>
            <a:r>
              <a:rPr lang="en-ID" sz="1200" dirty="0" err="1"/>
              <a:t>rendah</a:t>
            </a:r>
            <a:r>
              <a:rPr lang="en-ID" sz="1200" dirty="0"/>
              <a:t>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diberikan</a:t>
            </a:r>
            <a:r>
              <a:rPr lang="en-ID" sz="1200" dirty="0"/>
              <a:t> </a:t>
            </a:r>
            <a:r>
              <a:rPr lang="en-ID" sz="1200" dirty="0" err="1"/>
              <a:t>persetujuan</a:t>
            </a:r>
            <a:r>
              <a:rPr lang="en-ID" sz="1200" dirty="0"/>
              <a:t> </a:t>
            </a:r>
            <a:r>
              <a:rPr lang="en-ID" sz="1200" dirty="0" err="1"/>
              <a:t>kredit</a:t>
            </a:r>
            <a:r>
              <a:rPr lang="en-ID" sz="1200" dirty="0"/>
              <a:t> </a:t>
            </a:r>
            <a:r>
              <a:rPr lang="en-ID" sz="1200" dirty="0" err="1"/>
              <a:t>secara</a:t>
            </a:r>
            <a:r>
              <a:rPr lang="en-ID" sz="1200" dirty="0"/>
              <a:t> </a:t>
            </a:r>
            <a:r>
              <a:rPr lang="en-ID" sz="1200" dirty="0" err="1"/>
              <a:t>otomatis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proses yang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cepat</a:t>
            </a:r>
            <a:r>
              <a:rPr lang="en-ID" sz="1200" dirty="0"/>
              <a:t>.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nasabah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risiko</a:t>
            </a:r>
            <a:r>
              <a:rPr lang="en-ID" sz="1200" dirty="0"/>
              <a:t> </a:t>
            </a:r>
            <a:r>
              <a:rPr lang="en-ID" sz="1200" dirty="0" err="1"/>
              <a:t>menengah</a:t>
            </a:r>
            <a:r>
              <a:rPr lang="en-ID" sz="1200" dirty="0"/>
              <a:t>, </a:t>
            </a:r>
            <a:r>
              <a:rPr lang="en-ID" sz="1200" dirty="0" err="1"/>
              <a:t>perusahaan</a:t>
            </a:r>
            <a:r>
              <a:rPr lang="en-ID" sz="1200" dirty="0"/>
              <a:t> </a:t>
            </a:r>
            <a:r>
              <a:rPr lang="en-ID" sz="1200" dirty="0" err="1"/>
              <a:t>disarankan</a:t>
            </a:r>
            <a:r>
              <a:rPr lang="en-ID" sz="1200" dirty="0"/>
              <a:t> </a:t>
            </a:r>
            <a:r>
              <a:rPr lang="en-ID" sz="1200" dirty="0" err="1"/>
              <a:t>melakukan</a:t>
            </a:r>
            <a:r>
              <a:rPr lang="en-ID" sz="1200" dirty="0"/>
              <a:t> </a:t>
            </a:r>
            <a:r>
              <a:rPr lang="en-ID" sz="1200" dirty="0" err="1"/>
              <a:t>evaluasi</a:t>
            </a:r>
            <a:r>
              <a:rPr lang="en-ID" sz="1200" dirty="0"/>
              <a:t> </a:t>
            </a:r>
            <a:r>
              <a:rPr lang="en-ID" sz="1200" dirty="0" err="1"/>
              <a:t>tambahan</a:t>
            </a:r>
            <a:r>
              <a:rPr lang="en-ID" sz="1200" dirty="0"/>
              <a:t> </a:t>
            </a:r>
            <a:r>
              <a:rPr lang="en-ID" sz="1200" dirty="0" err="1"/>
              <a:t>seperti</a:t>
            </a:r>
            <a:r>
              <a:rPr lang="en-ID" sz="1200" dirty="0"/>
              <a:t> </a:t>
            </a:r>
            <a:r>
              <a:rPr lang="en-ID" sz="1200" dirty="0" err="1"/>
              <a:t>verifikasi</a:t>
            </a:r>
            <a:r>
              <a:rPr lang="en-ID" sz="1200" dirty="0"/>
              <a:t> data </a:t>
            </a:r>
            <a:r>
              <a:rPr lang="en-ID" sz="1200" dirty="0" err="1"/>
              <a:t>atau</a:t>
            </a:r>
            <a:r>
              <a:rPr lang="en-ID" sz="1200" dirty="0"/>
              <a:t> </a:t>
            </a:r>
            <a:r>
              <a:rPr lang="en-ID" sz="1200" dirty="0" err="1"/>
              <a:t>penyesuaian</a:t>
            </a:r>
            <a:r>
              <a:rPr lang="en-ID" sz="1200" dirty="0"/>
              <a:t> limit </a:t>
            </a:r>
            <a:r>
              <a:rPr lang="en-ID" sz="1200" dirty="0" err="1"/>
              <a:t>kredit</a:t>
            </a:r>
            <a:r>
              <a:rPr lang="en-ID" sz="1200" dirty="0"/>
              <a:t>. </a:t>
            </a:r>
            <a:r>
              <a:rPr lang="en-ID" sz="1200" dirty="0" err="1"/>
              <a:t>Sementara</a:t>
            </a:r>
            <a:r>
              <a:rPr lang="en-ID" sz="1200" dirty="0"/>
              <a:t> </a:t>
            </a:r>
            <a:r>
              <a:rPr lang="en-ID" sz="1200" dirty="0" err="1"/>
              <a:t>itu</a:t>
            </a:r>
            <a:r>
              <a:rPr lang="en-ID" sz="1200" dirty="0"/>
              <a:t>, </a:t>
            </a:r>
            <a:r>
              <a:rPr lang="en-ID" sz="1200" dirty="0" err="1"/>
              <a:t>nasabah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risiko</a:t>
            </a:r>
            <a:r>
              <a:rPr lang="en-ID" sz="1200" dirty="0"/>
              <a:t> </a:t>
            </a:r>
            <a:r>
              <a:rPr lang="en-ID" sz="1200" dirty="0" err="1"/>
              <a:t>tinggi</a:t>
            </a:r>
            <a:r>
              <a:rPr lang="en-ID" sz="1200" dirty="0"/>
              <a:t>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dikenakan</a:t>
            </a:r>
            <a:r>
              <a:rPr lang="en-ID" sz="1200" dirty="0"/>
              <a:t> </a:t>
            </a:r>
            <a:r>
              <a:rPr lang="en-ID" sz="1200" dirty="0" err="1"/>
              <a:t>penolakan</a:t>
            </a:r>
            <a:r>
              <a:rPr lang="en-ID" sz="1200" dirty="0"/>
              <a:t> </a:t>
            </a:r>
            <a:r>
              <a:rPr lang="en-ID" sz="1200" dirty="0" err="1"/>
              <a:t>pengajuan</a:t>
            </a:r>
            <a:r>
              <a:rPr lang="en-ID" sz="1200" dirty="0"/>
              <a:t> </a:t>
            </a:r>
            <a:r>
              <a:rPr lang="en-ID" sz="1200" dirty="0" err="1"/>
              <a:t>atau</a:t>
            </a:r>
            <a:r>
              <a:rPr lang="en-ID" sz="1200" dirty="0"/>
              <a:t> </a:t>
            </a:r>
            <a:r>
              <a:rPr lang="en-ID" sz="1200" dirty="0" err="1"/>
              <a:t>pembatasan</a:t>
            </a:r>
            <a:r>
              <a:rPr lang="en-ID" sz="1200" dirty="0"/>
              <a:t> </a:t>
            </a:r>
            <a:r>
              <a:rPr lang="en-ID" sz="1200" dirty="0" err="1"/>
              <a:t>kredit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meminimalkan</a:t>
            </a:r>
            <a:r>
              <a:rPr lang="en-ID" sz="1200" dirty="0"/>
              <a:t> </a:t>
            </a:r>
            <a:r>
              <a:rPr lang="en-ID" sz="1200" dirty="0" err="1"/>
              <a:t>potensi</a:t>
            </a:r>
            <a:r>
              <a:rPr lang="en-ID" sz="1200" dirty="0"/>
              <a:t> </a:t>
            </a:r>
            <a:r>
              <a:rPr lang="en-ID" sz="1200" dirty="0" err="1"/>
              <a:t>kerugian</a:t>
            </a:r>
            <a:r>
              <a:rPr lang="en-ID" sz="1200" dirty="0"/>
              <a:t>.</a:t>
            </a:r>
          </a:p>
          <a:p>
            <a:pPr algn="just"/>
            <a:endParaRPr lang="en-ID" sz="1200" dirty="0"/>
          </a:p>
          <a:p>
            <a:pPr algn="just"/>
            <a:r>
              <a:rPr lang="en-ID" sz="1200" dirty="0"/>
              <a:t>Selain </a:t>
            </a:r>
            <a:r>
              <a:rPr lang="en-ID" sz="1200" dirty="0" err="1"/>
              <a:t>itu</a:t>
            </a:r>
            <a:r>
              <a:rPr lang="en-ID" sz="1200" dirty="0"/>
              <a:t>, </a:t>
            </a:r>
            <a:r>
              <a:rPr lang="en-ID" sz="1200" dirty="0" err="1"/>
              <a:t>perusahaan</a:t>
            </a:r>
            <a:r>
              <a:rPr lang="en-ID" sz="1200" dirty="0"/>
              <a:t>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menerapkan</a:t>
            </a:r>
            <a:r>
              <a:rPr lang="en-ID" sz="1200" dirty="0"/>
              <a:t> </a:t>
            </a:r>
            <a:r>
              <a:rPr lang="en-ID" sz="1200" dirty="0" err="1"/>
              <a:t>sistem</a:t>
            </a:r>
            <a:r>
              <a:rPr lang="en-ID" sz="1200" dirty="0"/>
              <a:t> early warning </a:t>
            </a:r>
            <a:r>
              <a:rPr lang="en-ID" sz="1200" dirty="0" err="1"/>
              <a:t>berbasis</a:t>
            </a:r>
            <a:r>
              <a:rPr lang="en-ID" sz="1200" dirty="0"/>
              <a:t> </a:t>
            </a:r>
            <a:r>
              <a:rPr lang="en-ID" sz="1200" dirty="0" err="1"/>
              <a:t>riwayat</a:t>
            </a:r>
            <a:r>
              <a:rPr lang="en-ID" sz="1200" dirty="0"/>
              <a:t> </a:t>
            </a:r>
            <a:r>
              <a:rPr lang="en-ID" sz="1200" dirty="0" err="1"/>
              <a:t>pembayaran</a:t>
            </a:r>
            <a:r>
              <a:rPr lang="en-ID" sz="1200" dirty="0"/>
              <a:t> </a:t>
            </a:r>
            <a:r>
              <a:rPr lang="en-ID" sz="1200" dirty="0" err="1"/>
              <a:t>cicilan</a:t>
            </a:r>
            <a:r>
              <a:rPr lang="en-ID" sz="1200" dirty="0"/>
              <a:t> dan </a:t>
            </a:r>
            <a:r>
              <a:rPr lang="en-ID" sz="1200" dirty="0" err="1"/>
              <a:t>perilaku</a:t>
            </a:r>
            <a:r>
              <a:rPr lang="en-ID" sz="1200" dirty="0"/>
              <a:t> </a:t>
            </a:r>
            <a:r>
              <a:rPr lang="en-ID" sz="1200" dirty="0" err="1"/>
              <a:t>kredit</a:t>
            </a:r>
            <a:r>
              <a:rPr lang="en-ID" sz="1200" dirty="0"/>
              <a:t> </a:t>
            </a:r>
            <a:r>
              <a:rPr lang="en-ID" sz="1200" dirty="0" err="1"/>
              <a:t>nasabah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memantau</a:t>
            </a:r>
            <a:r>
              <a:rPr lang="en-ID" sz="1200" dirty="0"/>
              <a:t> </a:t>
            </a:r>
            <a:r>
              <a:rPr lang="en-ID" sz="1200" dirty="0" err="1"/>
              <a:t>potensi</a:t>
            </a:r>
            <a:r>
              <a:rPr lang="en-ID" sz="1200" dirty="0"/>
              <a:t> </a:t>
            </a:r>
            <a:r>
              <a:rPr lang="en-ID" sz="1200" dirty="0" err="1"/>
              <a:t>gagal</a:t>
            </a:r>
            <a:r>
              <a:rPr lang="en-ID" sz="1200" dirty="0"/>
              <a:t> </a:t>
            </a:r>
            <a:r>
              <a:rPr lang="en-ID" sz="1200" dirty="0" err="1"/>
              <a:t>bayar</a:t>
            </a:r>
            <a:r>
              <a:rPr lang="en-ID" sz="1200" dirty="0"/>
              <a:t>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awal</a:t>
            </a:r>
            <a:r>
              <a:rPr lang="en-ID" sz="1200" dirty="0"/>
              <a:t>. </a:t>
            </a:r>
            <a:r>
              <a:rPr lang="en-ID" sz="1200" dirty="0" err="1"/>
              <a:t>Implementasi</a:t>
            </a:r>
            <a:r>
              <a:rPr lang="en-ID" sz="1200" dirty="0"/>
              <a:t> strategi </a:t>
            </a:r>
            <a:r>
              <a:rPr lang="en-ID" sz="1200" dirty="0" err="1"/>
              <a:t>ini</a:t>
            </a:r>
            <a:r>
              <a:rPr lang="en-ID" sz="1200" dirty="0"/>
              <a:t> </a:t>
            </a:r>
            <a:r>
              <a:rPr lang="en-ID" sz="1200" dirty="0" err="1"/>
              <a:t>diharapkan</a:t>
            </a:r>
            <a:r>
              <a:rPr lang="en-ID" sz="1200" dirty="0"/>
              <a:t>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membantu</a:t>
            </a:r>
            <a:r>
              <a:rPr lang="en-ID" sz="1200" dirty="0"/>
              <a:t> </a:t>
            </a:r>
            <a:r>
              <a:rPr lang="en-ID" sz="1200" dirty="0" err="1"/>
              <a:t>perusahaan</a:t>
            </a:r>
            <a:r>
              <a:rPr lang="en-ID" sz="1200" dirty="0"/>
              <a:t> </a:t>
            </a:r>
            <a:r>
              <a:rPr lang="en-ID" sz="1200" dirty="0" err="1"/>
              <a:t>dalam</a:t>
            </a:r>
            <a:r>
              <a:rPr lang="en-ID" sz="1200" dirty="0"/>
              <a:t> </a:t>
            </a:r>
            <a:r>
              <a:rPr lang="en-ID" sz="1200" dirty="0" err="1"/>
              <a:t>menurunkan</a:t>
            </a:r>
            <a:r>
              <a:rPr lang="en-ID" sz="1200" dirty="0"/>
              <a:t> </a:t>
            </a:r>
            <a:r>
              <a:rPr lang="en-ID" sz="1200" dirty="0" err="1"/>
              <a:t>tingkat</a:t>
            </a:r>
            <a:r>
              <a:rPr lang="en-ID" sz="1200" dirty="0"/>
              <a:t> Non-Performing Loan (NPL) </a:t>
            </a:r>
            <a:r>
              <a:rPr lang="en-ID" sz="1200" dirty="0" err="1"/>
              <a:t>serta</a:t>
            </a:r>
            <a:r>
              <a:rPr lang="en-ID" sz="1200" dirty="0"/>
              <a:t> </a:t>
            </a:r>
            <a:r>
              <a:rPr lang="en-ID" sz="1200" dirty="0" err="1"/>
              <a:t>meningkatkan</a:t>
            </a:r>
            <a:r>
              <a:rPr lang="en-ID" sz="1200" dirty="0"/>
              <a:t> </a:t>
            </a:r>
            <a:r>
              <a:rPr lang="en-ID" sz="1200" dirty="0" err="1"/>
              <a:t>kualitas</a:t>
            </a:r>
            <a:r>
              <a:rPr lang="en-ID" sz="1200" dirty="0"/>
              <a:t> </a:t>
            </a:r>
            <a:r>
              <a:rPr lang="en-ID" sz="1200" dirty="0" err="1"/>
              <a:t>portofolio</a:t>
            </a:r>
            <a:r>
              <a:rPr lang="en-ID" sz="1200" dirty="0"/>
              <a:t> </a:t>
            </a:r>
            <a:r>
              <a:rPr lang="en-ID" sz="1200" dirty="0" err="1"/>
              <a:t>kredit</a:t>
            </a:r>
            <a:r>
              <a:rPr lang="en-ID" sz="1200" dirty="0"/>
              <a:t> </a:t>
            </a:r>
            <a:r>
              <a:rPr lang="en-ID" sz="1200" dirty="0" err="1"/>
              <a:t>secara</a:t>
            </a:r>
            <a:r>
              <a:rPr lang="en-ID" sz="1200" dirty="0"/>
              <a:t> </a:t>
            </a:r>
            <a:r>
              <a:rPr lang="en-ID" sz="1200" dirty="0" err="1"/>
              <a:t>keseluruhan</a:t>
            </a:r>
            <a:r>
              <a:rPr lang="en-ID" sz="1200" dirty="0"/>
              <a:t>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  <p:cxnSp>
        <p:nvCxnSpPr>
          <p:cNvPr id="367" name="Google Shape;367;p46"/>
          <p:cNvCxnSpPr/>
          <p:nvPr/>
        </p:nvCxnSpPr>
        <p:spPr>
          <a:xfrm>
            <a:off x="7161050" y="303000"/>
            <a:ext cx="207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8" name="Google Shape;368;p46"/>
          <p:cNvCxnSpPr/>
          <p:nvPr/>
        </p:nvCxnSpPr>
        <p:spPr>
          <a:xfrm rot="10800000">
            <a:off x="8768625" y="-28312"/>
            <a:ext cx="0" cy="463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352;p45">
            <a:extLst>
              <a:ext uri="{FF2B5EF4-FFF2-40B4-BE49-F238E27FC236}">
                <a16:creationId xmlns:a16="http://schemas.microsoft.com/office/drawing/2014/main" id="{4384ADB0-161F-9B23-3B7F-0B87841D4F15}"/>
              </a:ext>
            </a:extLst>
          </p:cNvPr>
          <p:cNvSpPr txBox="1"/>
          <p:nvPr/>
        </p:nvSpPr>
        <p:spPr>
          <a:xfrm>
            <a:off x="560794" y="2346093"/>
            <a:ext cx="7979041" cy="63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ID" sz="1200" dirty="0"/>
              <a:t>Project </a:t>
            </a:r>
            <a:r>
              <a:rPr lang="en-ID" sz="1200" dirty="0" err="1"/>
              <a:t>ini</a:t>
            </a:r>
            <a:r>
              <a:rPr lang="en-ID" sz="1200" dirty="0"/>
              <a:t> </a:t>
            </a:r>
            <a:r>
              <a:rPr lang="en-ID" sz="1200" dirty="0" err="1"/>
              <a:t>berhasil</a:t>
            </a:r>
            <a:r>
              <a:rPr lang="en-ID" sz="1200" dirty="0"/>
              <a:t> </a:t>
            </a:r>
            <a:r>
              <a:rPr lang="en-ID" sz="1200" dirty="0" err="1"/>
              <a:t>membangun</a:t>
            </a:r>
            <a:r>
              <a:rPr lang="en-ID" sz="1200" dirty="0"/>
              <a:t> </a:t>
            </a:r>
            <a:r>
              <a:rPr lang="en-ID" sz="1200" dirty="0" err="1"/>
              <a:t>solusi</a:t>
            </a:r>
            <a:r>
              <a:rPr lang="en-ID" sz="1200" dirty="0"/>
              <a:t> </a:t>
            </a:r>
            <a:r>
              <a:rPr lang="en-ID" sz="1200" dirty="0" err="1"/>
              <a:t>prediktif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mengidentifikasi</a:t>
            </a:r>
            <a:r>
              <a:rPr lang="en-ID" sz="1200" dirty="0"/>
              <a:t> </a:t>
            </a:r>
            <a:r>
              <a:rPr lang="en-ID" sz="1200" dirty="0" err="1"/>
              <a:t>risiko</a:t>
            </a:r>
            <a:r>
              <a:rPr lang="en-ID" sz="1200" dirty="0"/>
              <a:t> </a:t>
            </a:r>
            <a:r>
              <a:rPr lang="en-ID" sz="1200" dirty="0" err="1"/>
              <a:t>gagal</a:t>
            </a:r>
            <a:r>
              <a:rPr lang="en-ID" sz="1200" dirty="0"/>
              <a:t> </a:t>
            </a:r>
            <a:r>
              <a:rPr lang="en-ID" sz="1200" dirty="0" err="1"/>
              <a:t>bayar</a:t>
            </a:r>
            <a:r>
              <a:rPr lang="en-ID" sz="1200" dirty="0"/>
              <a:t> </a:t>
            </a:r>
            <a:r>
              <a:rPr lang="en-ID" sz="1200" dirty="0" err="1"/>
              <a:t>nasabah</a:t>
            </a:r>
            <a:r>
              <a:rPr lang="en-ID" sz="1200" dirty="0"/>
              <a:t> </a:t>
            </a:r>
            <a:r>
              <a:rPr lang="en-ID" sz="1200" dirty="0" err="1"/>
              <a:t>menggunakan</a:t>
            </a:r>
            <a:r>
              <a:rPr lang="en-ID" sz="1200" dirty="0"/>
              <a:t> data </a:t>
            </a:r>
            <a:r>
              <a:rPr lang="en-ID" sz="1200" dirty="0" err="1"/>
              <a:t>historis</a:t>
            </a:r>
            <a:r>
              <a:rPr lang="en-ID" sz="1200" dirty="0"/>
              <a:t> Home Credit </a:t>
            </a:r>
            <a:r>
              <a:rPr lang="en-ID" sz="1200" dirty="0" err="1"/>
              <a:t>dalam</a:t>
            </a:r>
            <a:r>
              <a:rPr lang="en-ID" sz="1200" dirty="0"/>
              <a:t> </a:t>
            </a:r>
            <a:r>
              <a:rPr lang="en-ID" sz="1200" dirty="0" err="1"/>
              <a:t>skema</a:t>
            </a:r>
            <a:r>
              <a:rPr lang="en-ID" sz="1200" dirty="0"/>
              <a:t> Project Based Learning Internship. Proses </a:t>
            </a:r>
            <a:r>
              <a:rPr lang="en-ID" sz="1200" dirty="0" err="1"/>
              <a:t>analisis</a:t>
            </a:r>
            <a:r>
              <a:rPr lang="en-ID" sz="1200" dirty="0"/>
              <a:t> </a:t>
            </a:r>
            <a:r>
              <a:rPr lang="en-ID" sz="1200" dirty="0" err="1"/>
              <a:t>dimulai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exploratory data analysis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memahami</a:t>
            </a:r>
            <a:r>
              <a:rPr lang="en-ID" sz="1200" dirty="0"/>
              <a:t> </a:t>
            </a:r>
            <a:r>
              <a:rPr lang="en-ID" sz="1200" dirty="0" err="1"/>
              <a:t>karakteristik</a:t>
            </a:r>
            <a:r>
              <a:rPr lang="en-ID" sz="1200" dirty="0"/>
              <a:t> </a:t>
            </a:r>
            <a:r>
              <a:rPr lang="en-ID" sz="1200" dirty="0" err="1"/>
              <a:t>nasabah</a:t>
            </a:r>
            <a:r>
              <a:rPr lang="en-ID" sz="1200" dirty="0"/>
              <a:t>, </a:t>
            </a:r>
            <a:r>
              <a:rPr lang="en-ID" sz="1200" dirty="0" err="1"/>
              <a:t>dilanjutkan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feature engineering, preprocessing data, </a:t>
            </a:r>
            <a:r>
              <a:rPr lang="en-ID" sz="1200" dirty="0" err="1"/>
              <a:t>serta</a:t>
            </a:r>
            <a:r>
              <a:rPr lang="en-ID" sz="1200" dirty="0"/>
              <a:t> </a:t>
            </a:r>
            <a:r>
              <a:rPr lang="en-ID" sz="1200" dirty="0" err="1"/>
              <a:t>pemodelan</a:t>
            </a:r>
            <a:r>
              <a:rPr lang="en-ID" sz="1200" dirty="0"/>
              <a:t> machine learning.</a:t>
            </a:r>
          </a:p>
          <a:p>
            <a:pPr algn="just"/>
            <a:endParaRPr lang="en-ID" sz="1200" dirty="0"/>
          </a:p>
          <a:p>
            <a:pPr algn="just"/>
            <a:r>
              <a:rPr lang="en-ID" sz="1200" dirty="0"/>
              <a:t>Model Logistic Regression yang </a:t>
            </a:r>
            <a:r>
              <a:rPr lang="en-ID" sz="1200" dirty="0" err="1"/>
              <a:t>digunakan</a:t>
            </a:r>
            <a:r>
              <a:rPr lang="en-ID" sz="1200" dirty="0"/>
              <a:t> </a:t>
            </a:r>
            <a:r>
              <a:rPr lang="en-ID" sz="1200" dirty="0" err="1"/>
              <a:t>menunjukkan</a:t>
            </a:r>
            <a:r>
              <a:rPr lang="en-ID" sz="1200" dirty="0"/>
              <a:t> </a:t>
            </a:r>
            <a:r>
              <a:rPr lang="en-ID" sz="1200" dirty="0" err="1"/>
              <a:t>performa</a:t>
            </a:r>
            <a:r>
              <a:rPr lang="en-ID" sz="1200" dirty="0"/>
              <a:t> yang </a:t>
            </a:r>
            <a:r>
              <a:rPr lang="en-ID" sz="1200" dirty="0" err="1"/>
              <a:t>stabil</a:t>
            </a:r>
            <a:r>
              <a:rPr lang="en-ID" sz="1200" dirty="0"/>
              <a:t> </a:t>
            </a:r>
            <a:r>
              <a:rPr lang="en-ID" sz="1200" dirty="0" err="1"/>
              <a:t>dalam</a:t>
            </a:r>
            <a:r>
              <a:rPr lang="en-ID" sz="1200" dirty="0"/>
              <a:t> </a:t>
            </a:r>
            <a:r>
              <a:rPr lang="en-ID" sz="1200" dirty="0" err="1"/>
              <a:t>membedakan</a:t>
            </a:r>
            <a:r>
              <a:rPr lang="en-ID" sz="1200" dirty="0"/>
              <a:t> </a:t>
            </a:r>
            <a:r>
              <a:rPr lang="en-ID" sz="1200" dirty="0" err="1"/>
              <a:t>nasabah</a:t>
            </a:r>
            <a:r>
              <a:rPr lang="en-ID" sz="1200" dirty="0"/>
              <a:t> </a:t>
            </a:r>
            <a:r>
              <a:rPr lang="en-ID" sz="1200" dirty="0" err="1"/>
              <a:t>berisiko</a:t>
            </a:r>
            <a:r>
              <a:rPr lang="en-ID" sz="1200" dirty="0"/>
              <a:t> dan </a:t>
            </a:r>
            <a:r>
              <a:rPr lang="en-ID" sz="1200" dirty="0" err="1"/>
              <a:t>tidak</a:t>
            </a:r>
            <a:r>
              <a:rPr lang="en-ID" sz="1200" dirty="0"/>
              <a:t> </a:t>
            </a:r>
            <a:r>
              <a:rPr lang="en-ID" sz="1200" dirty="0" err="1"/>
              <a:t>berisiko</a:t>
            </a:r>
            <a:r>
              <a:rPr lang="en-ID" sz="1200" dirty="0"/>
              <a:t>, </a:t>
            </a:r>
            <a:r>
              <a:rPr lang="en-ID" sz="1200" dirty="0" err="1"/>
              <a:t>serta</a:t>
            </a:r>
            <a:r>
              <a:rPr lang="en-ID" sz="1200" dirty="0"/>
              <a:t> </a:t>
            </a:r>
            <a:r>
              <a:rPr lang="en-ID" sz="1200" dirty="0" err="1"/>
              <a:t>didukung</a:t>
            </a:r>
            <a:r>
              <a:rPr lang="en-ID" sz="1200" dirty="0"/>
              <a:t> oleh </a:t>
            </a:r>
            <a:r>
              <a:rPr lang="en-ID" sz="1200" dirty="0" err="1"/>
              <a:t>hasil</a:t>
            </a:r>
            <a:r>
              <a:rPr lang="en-ID" sz="1200" dirty="0"/>
              <a:t> </a:t>
            </a:r>
            <a:r>
              <a:rPr lang="en-ID" sz="1200" dirty="0" err="1"/>
              <a:t>evaluasi</a:t>
            </a:r>
            <a:r>
              <a:rPr lang="en-ID" sz="1200" dirty="0"/>
              <a:t> </a:t>
            </a:r>
            <a:r>
              <a:rPr lang="en-ID" sz="1200" dirty="0" err="1"/>
              <a:t>menggunakan</a:t>
            </a:r>
            <a:r>
              <a:rPr lang="en-ID" sz="1200" dirty="0"/>
              <a:t> ROC–AUC dan confusion matrix. </a:t>
            </a:r>
            <a:r>
              <a:rPr lang="en-ID" sz="1200" dirty="0" err="1"/>
              <a:t>Analisis</a:t>
            </a:r>
            <a:r>
              <a:rPr lang="en-ID" sz="1200" dirty="0"/>
              <a:t> feature coefficient juga </a:t>
            </a:r>
            <a:r>
              <a:rPr lang="en-ID" sz="1200" dirty="0" err="1"/>
              <a:t>memberikan</a:t>
            </a:r>
            <a:r>
              <a:rPr lang="en-ID" sz="1200" dirty="0"/>
              <a:t> insight </a:t>
            </a:r>
            <a:r>
              <a:rPr lang="en-ID" sz="1200" dirty="0" err="1"/>
              <a:t>penting</a:t>
            </a:r>
            <a:r>
              <a:rPr lang="en-ID" sz="1200" dirty="0"/>
              <a:t> </a:t>
            </a:r>
            <a:r>
              <a:rPr lang="en-ID" sz="1200" dirty="0" err="1"/>
              <a:t>terkait</a:t>
            </a:r>
            <a:r>
              <a:rPr lang="en-ID" sz="1200" dirty="0"/>
              <a:t> </a:t>
            </a:r>
            <a:r>
              <a:rPr lang="en-ID" sz="1200" dirty="0" err="1"/>
              <a:t>faktor-faktor</a:t>
            </a:r>
            <a:r>
              <a:rPr lang="en-ID" sz="1200" dirty="0"/>
              <a:t> </a:t>
            </a:r>
            <a:r>
              <a:rPr lang="en-ID" sz="1200" dirty="0" err="1"/>
              <a:t>utama</a:t>
            </a:r>
            <a:r>
              <a:rPr lang="en-ID" sz="1200" dirty="0"/>
              <a:t> yang </a:t>
            </a:r>
            <a:r>
              <a:rPr lang="en-ID" sz="1200" dirty="0" err="1"/>
              <a:t>memengaruhi</a:t>
            </a:r>
            <a:r>
              <a:rPr lang="en-ID" sz="1200" dirty="0"/>
              <a:t> </a:t>
            </a:r>
            <a:r>
              <a:rPr lang="en-ID" sz="1200" dirty="0" err="1"/>
              <a:t>risiko</a:t>
            </a:r>
            <a:r>
              <a:rPr lang="en-ID" sz="1200" dirty="0"/>
              <a:t> default, </a:t>
            </a:r>
            <a:r>
              <a:rPr lang="en-ID" sz="1200" dirty="0" err="1"/>
              <a:t>sehingga</a:t>
            </a:r>
            <a:r>
              <a:rPr lang="en-ID" sz="1200" dirty="0"/>
              <a:t> model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diinterpretasikan</a:t>
            </a:r>
            <a:r>
              <a:rPr lang="en-ID" sz="1200" dirty="0"/>
              <a:t> </a:t>
            </a:r>
            <a:r>
              <a:rPr lang="en-ID" sz="1200" dirty="0" err="1"/>
              <a:t>secara</a:t>
            </a:r>
            <a:r>
              <a:rPr lang="en-ID" sz="1200" dirty="0"/>
              <a:t> </a:t>
            </a:r>
            <a:r>
              <a:rPr lang="en-ID" sz="1200" dirty="0" err="1"/>
              <a:t>bisnis</a:t>
            </a:r>
            <a:r>
              <a:rPr lang="en-ID" sz="1200" dirty="0"/>
              <a:t>.</a:t>
            </a:r>
          </a:p>
          <a:p>
            <a:pPr algn="just"/>
            <a:endParaRPr lang="en-ID" sz="1200" dirty="0"/>
          </a:p>
          <a:p>
            <a:pPr algn="just"/>
            <a:r>
              <a:rPr lang="en-ID" sz="1200" dirty="0" err="1"/>
              <a:t>Secara</a:t>
            </a:r>
            <a:r>
              <a:rPr lang="en-ID" sz="1200" dirty="0"/>
              <a:t> </a:t>
            </a:r>
            <a:r>
              <a:rPr lang="en-ID" sz="1200" dirty="0" err="1"/>
              <a:t>keseluruhan</a:t>
            </a:r>
            <a:r>
              <a:rPr lang="en-ID" sz="1200" dirty="0"/>
              <a:t>, </a:t>
            </a:r>
            <a:r>
              <a:rPr lang="en-ID" sz="1200" dirty="0" err="1"/>
              <a:t>hasil</a:t>
            </a:r>
            <a:r>
              <a:rPr lang="en-ID" sz="1200" dirty="0"/>
              <a:t> project </a:t>
            </a:r>
            <a:r>
              <a:rPr lang="en-ID" sz="1200" dirty="0" err="1"/>
              <a:t>ini</a:t>
            </a:r>
            <a:r>
              <a:rPr lang="en-ID" sz="1200" dirty="0"/>
              <a:t> </a:t>
            </a:r>
            <a:r>
              <a:rPr lang="en-ID" sz="1200" dirty="0" err="1"/>
              <a:t>menunjukkan</a:t>
            </a:r>
            <a:r>
              <a:rPr lang="en-ID" sz="1200" dirty="0"/>
              <a:t> </a:t>
            </a:r>
            <a:r>
              <a:rPr lang="en-ID" sz="1200" dirty="0" err="1"/>
              <a:t>bahwa</a:t>
            </a:r>
            <a:r>
              <a:rPr lang="en-ID" sz="1200" dirty="0"/>
              <a:t> </a:t>
            </a:r>
            <a:r>
              <a:rPr lang="en-ID" sz="1200" dirty="0" err="1"/>
              <a:t>pendekatan</a:t>
            </a:r>
            <a:r>
              <a:rPr lang="en-ID" sz="1200" dirty="0"/>
              <a:t> data-driven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membantu</a:t>
            </a:r>
            <a:r>
              <a:rPr lang="en-ID" sz="1200" dirty="0"/>
              <a:t> </a:t>
            </a:r>
            <a:r>
              <a:rPr lang="en-ID" sz="1200" dirty="0" err="1"/>
              <a:t>perusahaan</a:t>
            </a:r>
            <a:r>
              <a:rPr lang="en-ID" sz="1200" dirty="0"/>
              <a:t> </a:t>
            </a:r>
            <a:r>
              <a:rPr lang="en-ID" sz="1200" dirty="0" err="1"/>
              <a:t>pembiayaan</a:t>
            </a:r>
            <a:r>
              <a:rPr lang="en-ID" sz="1200" dirty="0"/>
              <a:t> </a:t>
            </a:r>
            <a:r>
              <a:rPr lang="en-ID" sz="1200" dirty="0" err="1"/>
              <a:t>dalam</a:t>
            </a:r>
            <a:r>
              <a:rPr lang="en-ID" sz="1200" dirty="0"/>
              <a:t> </a:t>
            </a:r>
            <a:r>
              <a:rPr lang="en-ID" sz="1200" dirty="0" err="1"/>
              <a:t>mendukung</a:t>
            </a:r>
            <a:r>
              <a:rPr lang="en-ID" sz="1200" dirty="0"/>
              <a:t> </a:t>
            </a:r>
            <a:r>
              <a:rPr lang="en-ID" sz="1200" dirty="0" err="1"/>
              <a:t>pengambilan</a:t>
            </a:r>
            <a:r>
              <a:rPr lang="en-ID" sz="1200" dirty="0"/>
              <a:t> </a:t>
            </a:r>
            <a:r>
              <a:rPr lang="en-ID" sz="1200" dirty="0" err="1"/>
              <a:t>keputusan</a:t>
            </a:r>
            <a:r>
              <a:rPr lang="en-ID" sz="1200" dirty="0"/>
              <a:t> </a:t>
            </a:r>
            <a:r>
              <a:rPr lang="en-ID" sz="1200" dirty="0" err="1"/>
              <a:t>kredit</a:t>
            </a:r>
            <a:r>
              <a:rPr lang="en-ID" sz="1200" dirty="0"/>
              <a:t>, </a:t>
            </a:r>
            <a:r>
              <a:rPr lang="en-ID" sz="1200" dirty="0" err="1"/>
              <a:t>meningkatkan</a:t>
            </a:r>
            <a:r>
              <a:rPr lang="en-ID" sz="1200" dirty="0"/>
              <a:t> </a:t>
            </a:r>
            <a:r>
              <a:rPr lang="en-ID" sz="1200" dirty="0" err="1"/>
              <a:t>efisiensi</a:t>
            </a:r>
            <a:r>
              <a:rPr lang="en-ID" sz="1200" dirty="0"/>
              <a:t> proses </a:t>
            </a:r>
            <a:r>
              <a:rPr lang="en-ID" sz="1200" dirty="0" err="1"/>
              <a:t>persetujuan</a:t>
            </a:r>
            <a:r>
              <a:rPr lang="en-ID" sz="1200" dirty="0"/>
              <a:t>, </a:t>
            </a:r>
            <a:r>
              <a:rPr lang="en-ID" sz="1200" dirty="0" err="1"/>
              <a:t>serta</a:t>
            </a:r>
            <a:r>
              <a:rPr lang="en-ID" sz="1200" dirty="0"/>
              <a:t> </a:t>
            </a:r>
            <a:r>
              <a:rPr lang="en-ID" sz="1200" dirty="0" err="1"/>
              <a:t>mengurangi</a:t>
            </a:r>
            <a:r>
              <a:rPr lang="en-ID" sz="1200" dirty="0"/>
              <a:t> </a:t>
            </a:r>
            <a:r>
              <a:rPr lang="en-ID" sz="1200" dirty="0" err="1"/>
              <a:t>risiko</a:t>
            </a:r>
            <a:r>
              <a:rPr lang="en-ID" sz="1200" dirty="0"/>
              <a:t> </a:t>
            </a:r>
            <a:r>
              <a:rPr lang="en-ID" sz="1200" dirty="0" err="1"/>
              <a:t>kredit</a:t>
            </a:r>
            <a:r>
              <a:rPr lang="en-ID" sz="1200" dirty="0"/>
              <a:t> di masa </a:t>
            </a:r>
            <a:r>
              <a:rPr lang="en-ID" sz="1200" dirty="0" err="1"/>
              <a:t>mendatang</a:t>
            </a:r>
            <a:r>
              <a:rPr lang="en-ID" sz="12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/>
        </p:nvSpPr>
        <p:spPr>
          <a:xfrm>
            <a:off x="734825" y="367750"/>
            <a:ext cx="16995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Link Code </a:t>
            </a:r>
            <a:r>
              <a:rPr lang="en-US" sz="1000" dirty="0">
                <a:solidFill>
                  <a:srgbClr val="0070C0"/>
                </a:solidFill>
                <a:latin typeface="DM Sans Medium"/>
                <a:ea typeface="DM Sans Medium"/>
                <a:cs typeface="DM Sans Medium"/>
                <a:sym typeface="DM Sans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US" sz="1000" dirty="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!</a:t>
            </a:r>
          </a:p>
        </p:txBody>
      </p:sp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100A4CDF-5672-C40D-7556-F4EC7F14898A}"/>
              </a:ext>
            </a:extLst>
          </p:cNvPr>
          <p:cNvSpPr txBox="1"/>
          <p:nvPr/>
        </p:nvSpPr>
        <p:spPr>
          <a:xfrm>
            <a:off x="665097" y="962825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DISYA NURUL ARIZA</a:t>
            </a:r>
            <a:endParaRPr sz="2000" b="0" i="0" u="none" strike="noStrike" cap="none" dirty="0">
              <a:solidFill>
                <a:srgbClr val="000000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3" name="Google Shape;78;p15">
            <a:extLst>
              <a:ext uri="{FF2B5EF4-FFF2-40B4-BE49-F238E27FC236}">
                <a16:creationId xmlns:a16="http://schemas.microsoft.com/office/drawing/2014/main" id="{D5E816D5-E0C6-512E-4307-62EF49BE0C68}"/>
              </a:ext>
            </a:extLst>
          </p:cNvPr>
          <p:cNvSpPr txBox="1"/>
          <p:nvPr/>
        </p:nvSpPr>
        <p:spPr>
          <a:xfrm>
            <a:off x="665097" y="1461917"/>
            <a:ext cx="35046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buSzPts val="2000"/>
            </a:pPr>
            <a:r>
              <a:rPr lang="en-ID" sz="2000" dirty="0"/>
              <a:t>Data Scientist Intern</a:t>
            </a:r>
            <a:endParaRPr sz="2000" b="0" i="0" u="none" strike="noStrike" cap="none" dirty="0">
              <a:solidFill>
                <a:srgbClr val="019FAB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4" name="Google Shape;79;p15">
            <a:extLst>
              <a:ext uri="{FF2B5EF4-FFF2-40B4-BE49-F238E27FC236}">
                <a16:creationId xmlns:a16="http://schemas.microsoft.com/office/drawing/2014/main" id="{FD3C88B3-D52B-DF77-3921-BD7F0206D867}"/>
              </a:ext>
            </a:extLst>
          </p:cNvPr>
          <p:cNvSpPr txBox="1"/>
          <p:nvPr/>
        </p:nvSpPr>
        <p:spPr>
          <a:xfrm>
            <a:off x="665097" y="2110042"/>
            <a:ext cx="35046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50000"/>
              </a:lnSpc>
              <a:buSzPts val="2000"/>
            </a:pPr>
            <a:r>
              <a:rPr lang="en-ID" sz="1200" dirty="0" err="1"/>
              <a:t>Seorang</a:t>
            </a:r>
            <a:r>
              <a:rPr lang="en-ID" sz="1200" dirty="0"/>
              <a:t> fresh graduate </a:t>
            </a:r>
            <a:r>
              <a:rPr lang="en-ID" sz="1200" dirty="0" err="1"/>
              <a:t>Teknologi</a:t>
            </a:r>
            <a:r>
              <a:rPr lang="en-ID" sz="1200" dirty="0"/>
              <a:t> </a:t>
            </a:r>
            <a:r>
              <a:rPr lang="en-ID" sz="1200" dirty="0" err="1"/>
              <a:t>Informasi</a:t>
            </a:r>
            <a:r>
              <a:rPr lang="en-ID" sz="1200" dirty="0"/>
              <a:t> Universitas Bina Sarana </a:t>
            </a:r>
            <a:r>
              <a:rPr lang="en-ID" sz="1200" dirty="0" err="1"/>
              <a:t>Informatika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minat</a:t>
            </a:r>
            <a:r>
              <a:rPr lang="en-ID" sz="1200" dirty="0"/>
              <a:t> </a:t>
            </a:r>
            <a:r>
              <a:rPr lang="en-ID" sz="1200" dirty="0" err="1"/>
              <a:t>besar</a:t>
            </a:r>
            <a:r>
              <a:rPr lang="en-ID" sz="1200" dirty="0"/>
              <a:t> pada </a:t>
            </a:r>
            <a:r>
              <a:rPr lang="en-ID" sz="1200" dirty="0" err="1"/>
              <a:t>analisis</a:t>
            </a:r>
            <a:r>
              <a:rPr lang="en-ID" sz="1200" dirty="0"/>
              <a:t> data, </a:t>
            </a:r>
            <a:r>
              <a:rPr lang="en-ID" sz="1200" dirty="0" err="1"/>
              <a:t>statistika</a:t>
            </a:r>
            <a:r>
              <a:rPr lang="en-ID" sz="1200" dirty="0"/>
              <a:t>, dan </a:t>
            </a:r>
            <a:r>
              <a:rPr lang="en-ID" sz="1200" dirty="0" err="1"/>
              <a:t>visualisasi</a:t>
            </a:r>
            <a:r>
              <a:rPr lang="en-ID" sz="1200" dirty="0"/>
              <a:t> data, </a:t>
            </a:r>
            <a:r>
              <a:rPr lang="en-ID" sz="1200" dirty="0" err="1"/>
              <a:t>serta</a:t>
            </a:r>
            <a:r>
              <a:rPr lang="en-ID" sz="1200" dirty="0"/>
              <a:t> </a:t>
            </a:r>
            <a:r>
              <a:rPr lang="en-ID" sz="1200" dirty="0" err="1"/>
              <a:t>memiliki</a:t>
            </a:r>
            <a:r>
              <a:rPr lang="en-ID" sz="1200" dirty="0"/>
              <a:t> </a:t>
            </a:r>
            <a:r>
              <a:rPr lang="en-ID" sz="1200" dirty="0" err="1"/>
              <a:t>keterampilan</a:t>
            </a:r>
            <a:r>
              <a:rPr lang="en-ID" sz="1200" dirty="0"/>
              <a:t> </a:t>
            </a:r>
            <a:r>
              <a:rPr lang="en-ID" sz="1200" dirty="0" err="1"/>
              <a:t>dalam</a:t>
            </a:r>
            <a:r>
              <a:rPr lang="en-ID" sz="1200" dirty="0"/>
              <a:t> Python, MySQL, RapidMiner, dan tool </a:t>
            </a:r>
            <a:r>
              <a:rPr lang="en-ID" sz="1200" dirty="0" err="1"/>
              <a:t>visualisasi</a:t>
            </a:r>
            <a:r>
              <a:rPr lang="en-ID" sz="1200" dirty="0"/>
              <a:t> </a:t>
            </a:r>
            <a:r>
              <a:rPr lang="en-ID" sz="1200" dirty="0" err="1"/>
              <a:t>seperti</a:t>
            </a:r>
            <a:r>
              <a:rPr lang="en-ID" sz="1200" dirty="0"/>
              <a:t> Tableau dan Power BI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analisis</a:t>
            </a:r>
            <a:r>
              <a:rPr lang="en-ID" sz="1200" dirty="0"/>
              <a:t> dan </a:t>
            </a:r>
            <a:r>
              <a:rPr lang="en-ID" sz="1200" dirty="0" err="1"/>
              <a:t>pengolahan</a:t>
            </a:r>
            <a:r>
              <a:rPr lang="en-ID" sz="1200" dirty="0"/>
              <a:t> data.</a:t>
            </a:r>
            <a:endParaRPr sz="120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11" name="Google Shape;82;p15">
            <a:extLst>
              <a:ext uri="{FF2B5EF4-FFF2-40B4-BE49-F238E27FC236}">
                <a16:creationId xmlns:a16="http://schemas.microsoft.com/office/drawing/2014/main" id="{AB5DF6E8-A16F-3124-665C-CCBBADCA550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6225" y="4590328"/>
            <a:ext cx="400201" cy="400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80;p15">
            <a:extLst>
              <a:ext uri="{FF2B5EF4-FFF2-40B4-BE49-F238E27FC236}">
                <a16:creationId xmlns:a16="http://schemas.microsoft.com/office/drawing/2014/main" id="{84DCDA65-8ECB-8B44-9671-BECA2C4D7DD4}"/>
              </a:ext>
            </a:extLst>
          </p:cNvPr>
          <p:cNvSpPr txBox="1"/>
          <p:nvPr/>
        </p:nvSpPr>
        <p:spPr>
          <a:xfrm>
            <a:off x="656426" y="4535541"/>
            <a:ext cx="3504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Serang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Baru,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Kabupaten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Bekasi, Jawa Barat</a:t>
            </a:r>
            <a:endParaRPr sz="12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13" name="Google Shape;83;p15">
            <a:extLst>
              <a:ext uri="{FF2B5EF4-FFF2-40B4-BE49-F238E27FC236}">
                <a16:creationId xmlns:a16="http://schemas.microsoft.com/office/drawing/2014/main" id="{1C296840-961F-E8CC-0420-2D42EA31A9B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12051" y="134287"/>
            <a:ext cx="369300" cy="26351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85;p15">
            <a:extLst>
              <a:ext uri="{FF2B5EF4-FFF2-40B4-BE49-F238E27FC236}">
                <a16:creationId xmlns:a16="http://schemas.microsoft.com/office/drawing/2014/main" id="{84C8D6BC-2007-1561-2354-A71854BBF94C}"/>
              </a:ext>
            </a:extLst>
          </p:cNvPr>
          <p:cNvSpPr txBox="1"/>
          <p:nvPr/>
        </p:nvSpPr>
        <p:spPr>
          <a:xfrm>
            <a:off x="6050150" y="38439"/>
            <a:ext cx="3504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 dirty="0">
                <a:latin typeface="Rubik Medium"/>
                <a:ea typeface="Rubik Medium"/>
                <a:cs typeface="Rubik Medium"/>
                <a:sym typeface="Rubik Medium"/>
              </a:rPr>
              <a:t>Disyaaarizaaa24@gmail.com</a:t>
            </a:r>
            <a:endParaRPr sz="12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15" name="Google Shape;81;p15">
            <a:extLst>
              <a:ext uri="{FF2B5EF4-FFF2-40B4-BE49-F238E27FC236}">
                <a16:creationId xmlns:a16="http://schemas.microsoft.com/office/drawing/2014/main" id="{217F2595-9F3F-0D2A-317E-C2F249853FB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44845" y="4597915"/>
            <a:ext cx="3693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84;p15">
            <a:extLst>
              <a:ext uri="{FF2B5EF4-FFF2-40B4-BE49-F238E27FC236}">
                <a16:creationId xmlns:a16="http://schemas.microsoft.com/office/drawing/2014/main" id="{3295B712-C51A-348F-C2CE-06B0737B1F68}"/>
              </a:ext>
            </a:extLst>
          </p:cNvPr>
          <p:cNvSpPr txBox="1"/>
          <p:nvPr/>
        </p:nvSpPr>
        <p:spPr>
          <a:xfrm>
            <a:off x="4914145" y="4559610"/>
            <a:ext cx="3504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  <a:buSzPts val="2000"/>
            </a:pPr>
            <a:r>
              <a:rPr lang="en-ID" sz="1200" dirty="0">
                <a:latin typeface="Rubik Medium" panose="020B0604020202020204" charset="-79"/>
                <a:cs typeface="Rubik Medium" panose="020B0604020202020204" charset="-79"/>
              </a:rPr>
              <a:t>www.linkedin.com/in/disya-nurul-ariza24</a:t>
            </a:r>
            <a:endParaRPr sz="1200" b="0" i="0" u="none" strike="noStrike" cap="none" dirty="0">
              <a:solidFill>
                <a:srgbClr val="000000"/>
              </a:solidFill>
              <a:latin typeface="Rubik Medium" panose="020B0604020202020204" charset="-79"/>
              <a:ea typeface="Rubik Medium"/>
              <a:cs typeface="Rubik Medium" panose="020B0604020202020204" charset="-79"/>
              <a:sym typeface="Rubik Medium"/>
            </a:endParaRPr>
          </a:p>
        </p:txBody>
      </p:sp>
      <p:sp>
        <p:nvSpPr>
          <p:cNvPr id="24" name="Google Shape;75;p15">
            <a:extLst>
              <a:ext uri="{FF2B5EF4-FFF2-40B4-BE49-F238E27FC236}">
                <a16:creationId xmlns:a16="http://schemas.microsoft.com/office/drawing/2014/main" id="{FBA9652B-1B26-F3F8-B0C2-8879A71C202C}"/>
              </a:ext>
            </a:extLst>
          </p:cNvPr>
          <p:cNvSpPr/>
          <p:nvPr/>
        </p:nvSpPr>
        <p:spPr>
          <a:xfrm>
            <a:off x="4974305" y="923573"/>
            <a:ext cx="2431800" cy="3298800"/>
          </a:xfrm>
          <a:prstGeom prst="roundRect">
            <a:avLst>
              <a:gd name="adj" fmla="val 16667"/>
            </a:avLst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mal and Professional Portfolio by Slidesgo">
  <a:themeElements>
    <a:clrScheme name="Simple Light">
      <a:dk1>
        <a:srgbClr val="333333"/>
      </a:dk1>
      <a:lt1>
        <a:srgbClr val="F7F4F1"/>
      </a:lt1>
      <a:dk2>
        <a:srgbClr val="444444"/>
      </a:dk2>
      <a:lt2>
        <a:srgbClr val="555555"/>
      </a:lt2>
      <a:accent1>
        <a:srgbClr val="66666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864</Words>
  <Application>Microsoft Office PowerPoint</Application>
  <PresentationFormat>On-screen Show (16:9)</PresentationFormat>
  <Paragraphs>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Anaheim</vt:lpstr>
      <vt:lpstr>Playfair Display Medium</vt:lpstr>
      <vt:lpstr>DM Sans Medium</vt:lpstr>
      <vt:lpstr>Rubik SemiBold</vt:lpstr>
      <vt:lpstr>Courier New</vt:lpstr>
      <vt:lpstr>Nunito Light</vt:lpstr>
      <vt:lpstr>DM Sans</vt:lpstr>
      <vt:lpstr>Rubik Medium</vt:lpstr>
      <vt:lpstr>Arial</vt:lpstr>
      <vt:lpstr>Raleway</vt:lpstr>
      <vt:lpstr>Formal and Professional Portfolio by Slidesgo</vt:lpstr>
      <vt:lpstr>Home Credit Default Risk - Predicting Loan Default Using Machine Learning</vt:lpstr>
      <vt:lpstr>PROBLEM STATEMENT</vt:lpstr>
      <vt:lpstr>DATASET DESCRIPTION</vt:lpstr>
      <vt:lpstr>PROCESS ANALYSIS &amp; MODELLING</vt:lpstr>
      <vt:lpstr>INSIGHT (EDA)</vt:lpstr>
      <vt:lpstr>INSIGHT (EDA)</vt:lpstr>
      <vt:lpstr>PowerPoint Presentation</vt:lpstr>
      <vt:lpstr>BUSINESS RECOMMENDATION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Disya Ariza</cp:lastModifiedBy>
  <cp:revision>9</cp:revision>
  <dcterms:modified xsi:type="dcterms:W3CDTF">2025-12-15T07:40:54Z</dcterms:modified>
</cp:coreProperties>
</file>